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6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37"/>
    <p:restoredTop sz="65162"/>
  </p:normalViewPr>
  <p:slideViewPr>
    <p:cSldViewPr snapToGrid="0">
      <p:cViewPr varScale="1">
        <p:scale>
          <a:sx n="82" d="100"/>
          <a:sy n="82" d="100"/>
        </p:scale>
        <p:origin x="768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BEE8537-3A9F-4D93-AAF8-BF7B064184B6}" type="doc">
      <dgm:prSet loTypeId="urn:microsoft.com/office/officeart/2016/7/layout/BasicLinearProcessNumbered" loCatId="process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B4A55DA0-D537-4F9A-A96A-206D950DE888}">
      <dgm:prSet/>
      <dgm:spPr/>
      <dgm:t>
        <a:bodyPr/>
        <a:lstStyle/>
        <a:p>
          <a:r>
            <a:rPr lang="en-US" b="0" i="0"/>
            <a:t>Define a normal vs. non-normal distribution and when it matters</a:t>
          </a:r>
          <a:endParaRPr lang="en-US"/>
        </a:p>
      </dgm:t>
    </dgm:pt>
    <dgm:pt modelId="{8684FDF0-66D5-481F-AB2A-7A982DF21ABB}" type="parTrans" cxnId="{11907789-486E-4980-8F13-C16AC5ADA0AA}">
      <dgm:prSet/>
      <dgm:spPr/>
      <dgm:t>
        <a:bodyPr/>
        <a:lstStyle/>
        <a:p>
          <a:endParaRPr lang="en-US"/>
        </a:p>
      </dgm:t>
    </dgm:pt>
    <dgm:pt modelId="{C78368A8-9612-45FF-BF42-5DF1B05E3437}" type="sibTrans" cxnId="{11907789-486E-4980-8F13-C16AC5ADA0AA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51B20956-D3F7-4822-BDF5-C5FC17434A52}">
      <dgm:prSet/>
      <dgm:spPr/>
      <dgm:t>
        <a:bodyPr/>
        <a:lstStyle/>
        <a:p>
          <a:r>
            <a:rPr lang="en-US" b="0" i="0"/>
            <a:t>Understand how to determine skew in your dataset</a:t>
          </a:r>
          <a:endParaRPr lang="en-US"/>
        </a:p>
      </dgm:t>
    </dgm:pt>
    <dgm:pt modelId="{2B8637C9-1F9B-4875-A6E6-46F90CA90ADE}" type="parTrans" cxnId="{45CBEAF3-104A-4C8E-BC88-0EC46705423B}">
      <dgm:prSet/>
      <dgm:spPr/>
      <dgm:t>
        <a:bodyPr/>
        <a:lstStyle/>
        <a:p>
          <a:endParaRPr lang="en-US"/>
        </a:p>
      </dgm:t>
    </dgm:pt>
    <dgm:pt modelId="{29384AB4-D752-41CB-9858-43116D6412EC}" type="sibTrans" cxnId="{45CBEAF3-104A-4C8E-BC88-0EC46705423B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49F26AC4-9B33-4631-9B8C-92FA64733C20}">
      <dgm:prSet/>
      <dgm:spPr/>
      <dgm:t>
        <a:bodyPr/>
        <a:lstStyle/>
        <a:p>
          <a:r>
            <a:rPr lang="en-US" b="0" i="0"/>
            <a:t>Develop a toolbox of how to deal with skewed data</a:t>
          </a:r>
          <a:endParaRPr lang="en-US"/>
        </a:p>
      </dgm:t>
    </dgm:pt>
    <dgm:pt modelId="{C71DAFBC-A356-4890-8000-669EDD3CEFC4}" type="parTrans" cxnId="{97F98EE9-649F-44CC-86EE-EA16AD029262}">
      <dgm:prSet/>
      <dgm:spPr/>
      <dgm:t>
        <a:bodyPr/>
        <a:lstStyle/>
        <a:p>
          <a:endParaRPr lang="en-US"/>
        </a:p>
      </dgm:t>
    </dgm:pt>
    <dgm:pt modelId="{C8027C38-2214-47BC-A081-CC8CD96E3207}" type="sibTrans" cxnId="{97F98EE9-649F-44CC-86EE-EA16AD029262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13C41905-E70A-2042-A000-B6D5BD2E9B3B}">
      <dgm:prSet phldrT="[Text]"/>
      <dgm:spPr/>
      <dgm:t>
        <a:bodyPr/>
        <a:lstStyle/>
        <a:p>
          <a:r>
            <a:rPr lang="en-US" dirty="0"/>
            <a:t>Understand what to do if normalization fails.</a:t>
          </a:r>
        </a:p>
      </dgm:t>
    </dgm:pt>
    <dgm:pt modelId="{68EA095D-96D4-A544-9645-DBB49437BE2F}" type="parTrans" cxnId="{9C82E4ED-2409-434B-944B-A54981FAEC4A}">
      <dgm:prSet/>
      <dgm:spPr/>
    </dgm:pt>
    <dgm:pt modelId="{00EC4378-1CE3-2D4D-99C0-FBA948CA3A04}" type="sibTrans" cxnId="{9C82E4ED-2409-434B-944B-A54981FAEC4A}">
      <dgm:prSet phldrT="4" phldr="0"/>
      <dgm:spPr/>
      <dgm:t>
        <a:bodyPr/>
        <a:lstStyle/>
        <a:p>
          <a:r>
            <a:rPr lang="en-US"/>
            <a:t>4</a:t>
          </a:r>
        </a:p>
      </dgm:t>
    </dgm:pt>
    <dgm:pt modelId="{E968CAFC-9F68-FE43-9748-2FF219222490}" type="pres">
      <dgm:prSet presAssocID="{4BEE8537-3A9F-4D93-AAF8-BF7B064184B6}" presName="Name0" presStyleCnt="0">
        <dgm:presLayoutVars>
          <dgm:animLvl val="lvl"/>
          <dgm:resizeHandles val="exact"/>
        </dgm:presLayoutVars>
      </dgm:prSet>
      <dgm:spPr/>
    </dgm:pt>
    <dgm:pt modelId="{E2297464-C8F4-5D4F-B350-F315BE29858D}" type="pres">
      <dgm:prSet presAssocID="{B4A55DA0-D537-4F9A-A96A-206D950DE888}" presName="compositeNode" presStyleCnt="0">
        <dgm:presLayoutVars>
          <dgm:bulletEnabled val="1"/>
        </dgm:presLayoutVars>
      </dgm:prSet>
      <dgm:spPr/>
    </dgm:pt>
    <dgm:pt modelId="{F5531E6B-EE7E-C940-BBFC-AEA2CB55A651}" type="pres">
      <dgm:prSet presAssocID="{B4A55DA0-D537-4F9A-A96A-206D950DE888}" presName="bgRect" presStyleLbl="bgAccFollowNode1" presStyleIdx="0" presStyleCnt="4"/>
      <dgm:spPr/>
    </dgm:pt>
    <dgm:pt modelId="{A401024C-857A-3742-92F7-DDC5FF8C9A6D}" type="pres">
      <dgm:prSet presAssocID="{C78368A8-9612-45FF-BF42-5DF1B05E3437}" presName="sibTransNodeCircle" presStyleLbl="alignNode1" presStyleIdx="0" presStyleCnt="8">
        <dgm:presLayoutVars>
          <dgm:chMax val="0"/>
          <dgm:bulletEnabled/>
        </dgm:presLayoutVars>
      </dgm:prSet>
      <dgm:spPr/>
    </dgm:pt>
    <dgm:pt modelId="{9BF81B61-43D6-6A40-969F-601BB7E4DEE7}" type="pres">
      <dgm:prSet presAssocID="{B4A55DA0-D537-4F9A-A96A-206D950DE888}" presName="bottomLine" presStyleLbl="alignNode1" presStyleIdx="1" presStyleCnt="8">
        <dgm:presLayoutVars/>
      </dgm:prSet>
      <dgm:spPr/>
    </dgm:pt>
    <dgm:pt modelId="{8D352ACD-39F3-5746-B1C6-5768095E015B}" type="pres">
      <dgm:prSet presAssocID="{B4A55DA0-D537-4F9A-A96A-206D950DE888}" presName="nodeText" presStyleLbl="bgAccFollowNode1" presStyleIdx="0" presStyleCnt="4">
        <dgm:presLayoutVars>
          <dgm:bulletEnabled val="1"/>
        </dgm:presLayoutVars>
      </dgm:prSet>
      <dgm:spPr/>
    </dgm:pt>
    <dgm:pt modelId="{6CFDFB64-9146-EE4F-B374-16A18BDA0A3D}" type="pres">
      <dgm:prSet presAssocID="{C78368A8-9612-45FF-BF42-5DF1B05E3437}" presName="sibTrans" presStyleCnt="0"/>
      <dgm:spPr/>
    </dgm:pt>
    <dgm:pt modelId="{144DAB64-3E89-9047-BC93-55C7D8BB7D39}" type="pres">
      <dgm:prSet presAssocID="{51B20956-D3F7-4822-BDF5-C5FC17434A52}" presName="compositeNode" presStyleCnt="0">
        <dgm:presLayoutVars>
          <dgm:bulletEnabled val="1"/>
        </dgm:presLayoutVars>
      </dgm:prSet>
      <dgm:spPr/>
    </dgm:pt>
    <dgm:pt modelId="{32B93B80-C473-8043-8358-73280B6FF820}" type="pres">
      <dgm:prSet presAssocID="{51B20956-D3F7-4822-BDF5-C5FC17434A52}" presName="bgRect" presStyleLbl="bgAccFollowNode1" presStyleIdx="1" presStyleCnt="4"/>
      <dgm:spPr/>
    </dgm:pt>
    <dgm:pt modelId="{F53644B7-E4CD-BA4D-9930-3033535591E3}" type="pres">
      <dgm:prSet presAssocID="{29384AB4-D752-41CB-9858-43116D6412EC}" presName="sibTransNodeCircle" presStyleLbl="alignNode1" presStyleIdx="2" presStyleCnt="8">
        <dgm:presLayoutVars>
          <dgm:chMax val="0"/>
          <dgm:bulletEnabled/>
        </dgm:presLayoutVars>
      </dgm:prSet>
      <dgm:spPr/>
    </dgm:pt>
    <dgm:pt modelId="{DA12CE4D-73DF-6749-8F2C-55B36F986FB5}" type="pres">
      <dgm:prSet presAssocID="{51B20956-D3F7-4822-BDF5-C5FC17434A52}" presName="bottomLine" presStyleLbl="alignNode1" presStyleIdx="3" presStyleCnt="8">
        <dgm:presLayoutVars/>
      </dgm:prSet>
      <dgm:spPr/>
    </dgm:pt>
    <dgm:pt modelId="{67609B28-8CEB-5E4B-B846-D3954DE0827C}" type="pres">
      <dgm:prSet presAssocID="{51B20956-D3F7-4822-BDF5-C5FC17434A52}" presName="nodeText" presStyleLbl="bgAccFollowNode1" presStyleIdx="1" presStyleCnt="4">
        <dgm:presLayoutVars>
          <dgm:bulletEnabled val="1"/>
        </dgm:presLayoutVars>
      </dgm:prSet>
      <dgm:spPr/>
    </dgm:pt>
    <dgm:pt modelId="{2B7B08F4-5404-7B44-A810-FC3F5D6DD758}" type="pres">
      <dgm:prSet presAssocID="{29384AB4-D752-41CB-9858-43116D6412EC}" presName="sibTrans" presStyleCnt="0"/>
      <dgm:spPr/>
    </dgm:pt>
    <dgm:pt modelId="{7A913FF0-D7B7-A949-BD39-261C3AB01269}" type="pres">
      <dgm:prSet presAssocID="{49F26AC4-9B33-4631-9B8C-92FA64733C20}" presName="compositeNode" presStyleCnt="0">
        <dgm:presLayoutVars>
          <dgm:bulletEnabled val="1"/>
        </dgm:presLayoutVars>
      </dgm:prSet>
      <dgm:spPr/>
    </dgm:pt>
    <dgm:pt modelId="{0D44AC74-5C85-FC4A-9D74-BCD4956FCA91}" type="pres">
      <dgm:prSet presAssocID="{49F26AC4-9B33-4631-9B8C-92FA64733C20}" presName="bgRect" presStyleLbl="bgAccFollowNode1" presStyleIdx="2" presStyleCnt="4"/>
      <dgm:spPr/>
    </dgm:pt>
    <dgm:pt modelId="{8AFB3681-13EE-1544-B5A1-BF90B569B3E6}" type="pres">
      <dgm:prSet presAssocID="{C8027C38-2214-47BC-A081-CC8CD96E3207}" presName="sibTransNodeCircle" presStyleLbl="alignNode1" presStyleIdx="4" presStyleCnt="8">
        <dgm:presLayoutVars>
          <dgm:chMax val="0"/>
          <dgm:bulletEnabled/>
        </dgm:presLayoutVars>
      </dgm:prSet>
      <dgm:spPr/>
    </dgm:pt>
    <dgm:pt modelId="{7449331E-1B11-3141-ADBA-73DEF6C17A26}" type="pres">
      <dgm:prSet presAssocID="{49F26AC4-9B33-4631-9B8C-92FA64733C20}" presName="bottomLine" presStyleLbl="alignNode1" presStyleIdx="5" presStyleCnt="8">
        <dgm:presLayoutVars/>
      </dgm:prSet>
      <dgm:spPr/>
    </dgm:pt>
    <dgm:pt modelId="{47586F9C-9B54-EB4F-96C8-9783A5315693}" type="pres">
      <dgm:prSet presAssocID="{49F26AC4-9B33-4631-9B8C-92FA64733C20}" presName="nodeText" presStyleLbl="bgAccFollowNode1" presStyleIdx="2" presStyleCnt="4">
        <dgm:presLayoutVars>
          <dgm:bulletEnabled val="1"/>
        </dgm:presLayoutVars>
      </dgm:prSet>
      <dgm:spPr/>
    </dgm:pt>
    <dgm:pt modelId="{2A7802F4-BEB6-EA47-8EED-D3DCE7800C9A}" type="pres">
      <dgm:prSet presAssocID="{C8027C38-2214-47BC-A081-CC8CD96E3207}" presName="sibTrans" presStyleCnt="0"/>
      <dgm:spPr/>
    </dgm:pt>
    <dgm:pt modelId="{D58E89CE-0696-9448-B843-D8CE17FB8E1F}" type="pres">
      <dgm:prSet presAssocID="{13C41905-E70A-2042-A000-B6D5BD2E9B3B}" presName="compositeNode" presStyleCnt="0">
        <dgm:presLayoutVars>
          <dgm:bulletEnabled val="1"/>
        </dgm:presLayoutVars>
      </dgm:prSet>
      <dgm:spPr/>
    </dgm:pt>
    <dgm:pt modelId="{27D11AC7-A0F6-A941-9745-7807865620AC}" type="pres">
      <dgm:prSet presAssocID="{13C41905-E70A-2042-A000-B6D5BD2E9B3B}" presName="bgRect" presStyleLbl="bgAccFollowNode1" presStyleIdx="3" presStyleCnt="4"/>
      <dgm:spPr/>
    </dgm:pt>
    <dgm:pt modelId="{F98F7200-0AA2-524B-8D77-69243813A5FA}" type="pres">
      <dgm:prSet presAssocID="{00EC4378-1CE3-2D4D-99C0-FBA948CA3A04}" presName="sibTransNodeCircle" presStyleLbl="alignNode1" presStyleIdx="6" presStyleCnt="8">
        <dgm:presLayoutVars>
          <dgm:chMax val="0"/>
          <dgm:bulletEnabled/>
        </dgm:presLayoutVars>
      </dgm:prSet>
      <dgm:spPr/>
    </dgm:pt>
    <dgm:pt modelId="{C581505F-92FA-DB4D-A701-913FFA1DBE0C}" type="pres">
      <dgm:prSet presAssocID="{13C41905-E70A-2042-A000-B6D5BD2E9B3B}" presName="bottomLine" presStyleLbl="alignNode1" presStyleIdx="7" presStyleCnt="8">
        <dgm:presLayoutVars/>
      </dgm:prSet>
      <dgm:spPr/>
    </dgm:pt>
    <dgm:pt modelId="{A550224A-B7B9-EB4D-A768-06DB806025EB}" type="pres">
      <dgm:prSet presAssocID="{13C41905-E70A-2042-A000-B6D5BD2E9B3B}" presName="nodeText" presStyleLbl="bgAccFollowNode1" presStyleIdx="3" presStyleCnt="4">
        <dgm:presLayoutVars>
          <dgm:bulletEnabled val="1"/>
        </dgm:presLayoutVars>
      </dgm:prSet>
      <dgm:spPr/>
    </dgm:pt>
  </dgm:ptLst>
  <dgm:cxnLst>
    <dgm:cxn modelId="{08E1D010-6A2F-934F-A3AA-27F7A736BFCD}" type="presOf" srcId="{C78368A8-9612-45FF-BF42-5DF1B05E3437}" destId="{A401024C-857A-3742-92F7-DDC5FF8C9A6D}" srcOrd="0" destOrd="0" presId="urn:microsoft.com/office/officeart/2016/7/layout/BasicLinearProcessNumbered"/>
    <dgm:cxn modelId="{C7A94612-31A8-4A43-867E-83B36AB575C4}" type="presOf" srcId="{49F26AC4-9B33-4631-9B8C-92FA64733C20}" destId="{47586F9C-9B54-EB4F-96C8-9783A5315693}" srcOrd="1" destOrd="0" presId="urn:microsoft.com/office/officeart/2016/7/layout/BasicLinearProcessNumbered"/>
    <dgm:cxn modelId="{64BD271C-EDB3-9746-9F45-94DC0380D1C2}" type="presOf" srcId="{13C41905-E70A-2042-A000-B6D5BD2E9B3B}" destId="{27D11AC7-A0F6-A941-9745-7807865620AC}" srcOrd="0" destOrd="0" presId="urn:microsoft.com/office/officeart/2016/7/layout/BasicLinearProcessNumbered"/>
    <dgm:cxn modelId="{D723361D-8E51-D041-B13D-382EF8CE38F4}" type="presOf" srcId="{B4A55DA0-D537-4F9A-A96A-206D950DE888}" destId="{8D352ACD-39F3-5746-B1C6-5768095E015B}" srcOrd="1" destOrd="0" presId="urn:microsoft.com/office/officeart/2016/7/layout/BasicLinearProcessNumbered"/>
    <dgm:cxn modelId="{248AB33B-594D-A148-B525-9331469110A1}" type="presOf" srcId="{51B20956-D3F7-4822-BDF5-C5FC17434A52}" destId="{67609B28-8CEB-5E4B-B846-D3954DE0827C}" srcOrd="1" destOrd="0" presId="urn:microsoft.com/office/officeart/2016/7/layout/BasicLinearProcessNumbered"/>
    <dgm:cxn modelId="{4DC53A3F-7AD0-4941-A3A9-E59C444470CD}" type="presOf" srcId="{B4A55DA0-D537-4F9A-A96A-206D950DE888}" destId="{F5531E6B-EE7E-C940-BBFC-AEA2CB55A651}" srcOrd="0" destOrd="0" presId="urn:microsoft.com/office/officeart/2016/7/layout/BasicLinearProcessNumbered"/>
    <dgm:cxn modelId="{5CB7244A-8D15-6344-95ED-96F24678AC89}" type="presOf" srcId="{00EC4378-1CE3-2D4D-99C0-FBA948CA3A04}" destId="{F98F7200-0AA2-524B-8D77-69243813A5FA}" srcOrd="0" destOrd="0" presId="urn:microsoft.com/office/officeart/2016/7/layout/BasicLinearProcessNumbered"/>
    <dgm:cxn modelId="{8C1D9580-0EB2-2544-83DE-6C4C15D05819}" type="presOf" srcId="{13C41905-E70A-2042-A000-B6D5BD2E9B3B}" destId="{A550224A-B7B9-EB4D-A768-06DB806025EB}" srcOrd="1" destOrd="0" presId="urn:microsoft.com/office/officeart/2016/7/layout/BasicLinearProcessNumbered"/>
    <dgm:cxn modelId="{ED722389-DD2C-6A41-BA55-B715B7D6365C}" type="presOf" srcId="{49F26AC4-9B33-4631-9B8C-92FA64733C20}" destId="{0D44AC74-5C85-FC4A-9D74-BCD4956FCA91}" srcOrd="0" destOrd="0" presId="urn:microsoft.com/office/officeart/2016/7/layout/BasicLinearProcessNumbered"/>
    <dgm:cxn modelId="{11907789-486E-4980-8F13-C16AC5ADA0AA}" srcId="{4BEE8537-3A9F-4D93-AAF8-BF7B064184B6}" destId="{B4A55DA0-D537-4F9A-A96A-206D950DE888}" srcOrd="0" destOrd="0" parTransId="{8684FDF0-66D5-481F-AB2A-7A982DF21ABB}" sibTransId="{C78368A8-9612-45FF-BF42-5DF1B05E3437}"/>
    <dgm:cxn modelId="{63EE6098-4EA4-644E-BD94-85BE7B929DD9}" type="presOf" srcId="{51B20956-D3F7-4822-BDF5-C5FC17434A52}" destId="{32B93B80-C473-8043-8358-73280B6FF820}" srcOrd="0" destOrd="0" presId="urn:microsoft.com/office/officeart/2016/7/layout/BasicLinearProcessNumbered"/>
    <dgm:cxn modelId="{662A89B5-CDFD-5148-9B48-AAD59E59944D}" type="presOf" srcId="{29384AB4-D752-41CB-9858-43116D6412EC}" destId="{F53644B7-E4CD-BA4D-9930-3033535591E3}" srcOrd="0" destOrd="0" presId="urn:microsoft.com/office/officeart/2016/7/layout/BasicLinearProcessNumbered"/>
    <dgm:cxn modelId="{97F98EE9-649F-44CC-86EE-EA16AD029262}" srcId="{4BEE8537-3A9F-4D93-AAF8-BF7B064184B6}" destId="{49F26AC4-9B33-4631-9B8C-92FA64733C20}" srcOrd="2" destOrd="0" parTransId="{C71DAFBC-A356-4890-8000-669EDD3CEFC4}" sibTransId="{C8027C38-2214-47BC-A081-CC8CD96E3207}"/>
    <dgm:cxn modelId="{31517CED-5020-9542-95F3-36AB2E7411FB}" type="presOf" srcId="{C8027C38-2214-47BC-A081-CC8CD96E3207}" destId="{8AFB3681-13EE-1544-B5A1-BF90B569B3E6}" srcOrd="0" destOrd="0" presId="urn:microsoft.com/office/officeart/2016/7/layout/BasicLinearProcessNumbered"/>
    <dgm:cxn modelId="{9C82E4ED-2409-434B-944B-A54981FAEC4A}" srcId="{4BEE8537-3A9F-4D93-AAF8-BF7B064184B6}" destId="{13C41905-E70A-2042-A000-B6D5BD2E9B3B}" srcOrd="3" destOrd="0" parTransId="{68EA095D-96D4-A544-9645-DBB49437BE2F}" sibTransId="{00EC4378-1CE3-2D4D-99C0-FBA948CA3A04}"/>
    <dgm:cxn modelId="{ADEF4FF2-2F66-B841-B31C-781FAA4AE60A}" type="presOf" srcId="{4BEE8537-3A9F-4D93-AAF8-BF7B064184B6}" destId="{E968CAFC-9F68-FE43-9748-2FF219222490}" srcOrd="0" destOrd="0" presId="urn:microsoft.com/office/officeart/2016/7/layout/BasicLinearProcessNumbered"/>
    <dgm:cxn modelId="{45CBEAF3-104A-4C8E-BC88-0EC46705423B}" srcId="{4BEE8537-3A9F-4D93-AAF8-BF7B064184B6}" destId="{51B20956-D3F7-4822-BDF5-C5FC17434A52}" srcOrd="1" destOrd="0" parTransId="{2B8637C9-1F9B-4875-A6E6-46F90CA90ADE}" sibTransId="{29384AB4-D752-41CB-9858-43116D6412EC}"/>
    <dgm:cxn modelId="{BF75C2E2-D74F-8142-8DC3-F762C2B63A16}" type="presParOf" srcId="{E968CAFC-9F68-FE43-9748-2FF219222490}" destId="{E2297464-C8F4-5D4F-B350-F315BE29858D}" srcOrd="0" destOrd="0" presId="urn:microsoft.com/office/officeart/2016/7/layout/BasicLinearProcessNumbered"/>
    <dgm:cxn modelId="{93CF6CE9-CCCB-8C45-A29C-AB0C9857F184}" type="presParOf" srcId="{E2297464-C8F4-5D4F-B350-F315BE29858D}" destId="{F5531E6B-EE7E-C940-BBFC-AEA2CB55A651}" srcOrd="0" destOrd="0" presId="urn:microsoft.com/office/officeart/2016/7/layout/BasicLinearProcessNumbered"/>
    <dgm:cxn modelId="{8A8EFED7-6C87-014C-9F6F-2B37D7A3D47B}" type="presParOf" srcId="{E2297464-C8F4-5D4F-B350-F315BE29858D}" destId="{A401024C-857A-3742-92F7-DDC5FF8C9A6D}" srcOrd="1" destOrd="0" presId="urn:microsoft.com/office/officeart/2016/7/layout/BasicLinearProcessNumbered"/>
    <dgm:cxn modelId="{223F46E8-AB34-4149-BDBF-00065ACA19ED}" type="presParOf" srcId="{E2297464-C8F4-5D4F-B350-F315BE29858D}" destId="{9BF81B61-43D6-6A40-969F-601BB7E4DEE7}" srcOrd="2" destOrd="0" presId="urn:microsoft.com/office/officeart/2016/7/layout/BasicLinearProcessNumbered"/>
    <dgm:cxn modelId="{C28F4C06-2490-B243-BB6A-F53A84BD2407}" type="presParOf" srcId="{E2297464-C8F4-5D4F-B350-F315BE29858D}" destId="{8D352ACD-39F3-5746-B1C6-5768095E015B}" srcOrd="3" destOrd="0" presId="urn:microsoft.com/office/officeart/2016/7/layout/BasicLinearProcessNumbered"/>
    <dgm:cxn modelId="{6021B8B1-8F33-4645-9A6B-41F290E654CF}" type="presParOf" srcId="{E968CAFC-9F68-FE43-9748-2FF219222490}" destId="{6CFDFB64-9146-EE4F-B374-16A18BDA0A3D}" srcOrd="1" destOrd="0" presId="urn:microsoft.com/office/officeart/2016/7/layout/BasicLinearProcessNumbered"/>
    <dgm:cxn modelId="{62468F63-8437-5840-99C6-F92B690570BB}" type="presParOf" srcId="{E968CAFC-9F68-FE43-9748-2FF219222490}" destId="{144DAB64-3E89-9047-BC93-55C7D8BB7D39}" srcOrd="2" destOrd="0" presId="urn:microsoft.com/office/officeart/2016/7/layout/BasicLinearProcessNumbered"/>
    <dgm:cxn modelId="{A9D2865B-7369-A746-B193-4C49A5FCA660}" type="presParOf" srcId="{144DAB64-3E89-9047-BC93-55C7D8BB7D39}" destId="{32B93B80-C473-8043-8358-73280B6FF820}" srcOrd="0" destOrd="0" presId="urn:microsoft.com/office/officeart/2016/7/layout/BasicLinearProcessNumbered"/>
    <dgm:cxn modelId="{8EA5759A-9757-FB4F-BD1C-FFB19E23D590}" type="presParOf" srcId="{144DAB64-3E89-9047-BC93-55C7D8BB7D39}" destId="{F53644B7-E4CD-BA4D-9930-3033535591E3}" srcOrd="1" destOrd="0" presId="urn:microsoft.com/office/officeart/2016/7/layout/BasicLinearProcessNumbered"/>
    <dgm:cxn modelId="{2B6B2126-CCEB-C94A-929F-10A9732B2086}" type="presParOf" srcId="{144DAB64-3E89-9047-BC93-55C7D8BB7D39}" destId="{DA12CE4D-73DF-6749-8F2C-55B36F986FB5}" srcOrd="2" destOrd="0" presId="urn:microsoft.com/office/officeart/2016/7/layout/BasicLinearProcessNumbered"/>
    <dgm:cxn modelId="{22CCF0C0-BDE5-FD4C-BAA6-554FAFF8DF68}" type="presParOf" srcId="{144DAB64-3E89-9047-BC93-55C7D8BB7D39}" destId="{67609B28-8CEB-5E4B-B846-D3954DE0827C}" srcOrd="3" destOrd="0" presId="urn:microsoft.com/office/officeart/2016/7/layout/BasicLinearProcessNumbered"/>
    <dgm:cxn modelId="{E0D98C00-375C-ED4F-8041-D001CC88E725}" type="presParOf" srcId="{E968CAFC-9F68-FE43-9748-2FF219222490}" destId="{2B7B08F4-5404-7B44-A810-FC3F5D6DD758}" srcOrd="3" destOrd="0" presId="urn:microsoft.com/office/officeart/2016/7/layout/BasicLinearProcessNumbered"/>
    <dgm:cxn modelId="{ECB20B46-8DC8-BA4D-A911-21F82D00F3A8}" type="presParOf" srcId="{E968CAFC-9F68-FE43-9748-2FF219222490}" destId="{7A913FF0-D7B7-A949-BD39-261C3AB01269}" srcOrd="4" destOrd="0" presId="urn:microsoft.com/office/officeart/2016/7/layout/BasicLinearProcessNumbered"/>
    <dgm:cxn modelId="{42D55C35-B69B-F340-AE07-F22790E443E9}" type="presParOf" srcId="{7A913FF0-D7B7-A949-BD39-261C3AB01269}" destId="{0D44AC74-5C85-FC4A-9D74-BCD4956FCA91}" srcOrd="0" destOrd="0" presId="urn:microsoft.com/office/officeart/2016/7/layout/BasicLinearProcessNumbered"/>
    <dgm:cxn modelId="{9FBEEF6E-86DF-284D-B50B-8DB09B086B70}" type="presParOf" srcId="{7A913FF0-D7B7-A949-BD39-261C3AB01269}" destId="{8AFB3681-13EE-1544-B5A1-BF90B569B3E6}" srcOrd="1" destOrd="0" presId="urn:microsoft.com/office/officeart/2016/7/layout/BasicLinearProcessNumbered"/>
    <dgm:cxn modelId="{1F2A94F4-E5DC-2847-8079-F05941491160}" type="presParOf" srcId="{7A913FF0-D7B7-A949-BD39-261C3AB01269}" destId="{7449331E-1B11-3141-ADBA-73DEF6C17A26}" srcOrd="2" destOrd="0" presId="urn:microsoft.com/office/officeart/2016/7/layout/BasicLinearProcessNumbered"/>
    <dgm:cxn modelId="{20DB4CE8-B8AA-1D4B-8FBE-9CEA9C9FF1F4}" type="presParOf" srcId="{7A913FF0-D7B7-A949-BD39-261C3AB01269}" destId="{47586F9C-9B54-EB4F-96C8-9783A5315693}" srcOrd="3" destOrd="0" presId="urn:microsoft.com/office/officeart/2016/7/layout/BasicLinearProcessNumbered"/>
    <dgm:cxn modelId="{91191685-0E00-3A4B-A8C8-E3361A812820}" type="presParOf" srcId="{E968CAFC-9F68-FE43-9748-2FF219222490}" destId="{2A7802F4-BEB6-EA47-8EED-D3DCE7800C9A}" srcOrd="5" destOrd="0" presId="urn:microsoft.com/office/officeart/2016/7/layout/BasicLinearProcessNumbered"/>
    <dgm:cxn modelId="{8927EF30-89A0-6140-B9C6-4CDBC30FA883}" type="presParOf" srcId="{E968CAFC-9F68-FE43-9748-2FF219222490}" destId="{D58E89CE-0696-9448-B843-D8CE17FB8E1F}" srcOrd="6" destOrd="0" presId="urn:microsoft.com/office/officeart/2016/7/layout/BasicLinearProcessNumbered"/>
    <dgm:cxn modelId="{A0AA3ADF-FBB3-4C47-9A4F-9002E0E8DD28}" type="presParOf" srcId="{D58E89CE-0696-9448-B843-D8CE17FB8E1F}" destId="{27D11AC7-A0F6-A941-9745-7807865620AC}" srcOrd="0" destOrd="0" presId="urn:microsoft.com/office/officeart/2016/7/layout/BasicLinearProcessNumbered"/>
    <dgm:cxn modelId="{78287DEB-B150-6247-B9D7-CFFD284DE775}" type="presParOf" srcId="{D58E89CE-0696-9448-B843-D8CE17FB8E1F}" destId="{F98F7200-0AA2-524B-8D77-69243813A5FA}" srcOrd="1" destOrd="0" presId="urn:microsoft.com/office/officeart/2016/7/layout/BasicLinearProcessNumbered"/>
    <dgm:cxn modelId="{1C721DC8-F0C9-B242-AF5F-E76910ED5DC0}" type="presParOf" srcId="{D58E89CE-0696-9448-B843-D8CE17FB8E1F}" destId="{C581505F-92FA-DB4D-A701-913FFA1DBE0C}" srcOrd="2" destOrd="0" presId="urn:microsoft.com/office/officeart/2016/7/layout/BasicLinearProcessNumbered"/>
    <dgm:cxn modelId="{7DA6A597-5E0B-B349-885B-FA7548453F5C}" type="presParOf" srcId="{D58E89CE-0696-9448-B843-D8CE17FB8E1F}" destId="{A550224A-B7B9-EB4D-A768-06DB806025EB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BEE8537-3A9F-4D93-AAF8-BF7B064184B6}" type="doc">
      <dgm:prSet loTypeId="urn:microsoft.com/office/officeart/2016/7/layout/BasicLinearProcessNumbered#1" loCatId="process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B4A55DA0-D537-4F9A-A96A-206D950DE888}">
      <dgm:prSet/>
      <dgm:spPr/>
      <dgm:t>
        <a:bodyPr/>
        <a:lstStyle/>
        <a:p>
          <a:r>
            <a:rPr lang="en-US" b="0" i="0"/>
            <a:t>Define a normal vs. non-normal distribution and when it matters</a:t>
          </a:r>
          <a:endParaRPr lang="en-US"/>
        </a:p>
      </dgm:t>
    </dgm:pt>
    <dgm:pt modelId="{8684FDF0-66D5-481F-AB2A-7A982DF21ABB}" type="parTrans" cxnId="{11907789-486E-4980-8F13-C16AC5ADA0AA}">
      <dgm:prSet/>
      <dgm:spPr/>
      <dgm:t>
        <a:bodyPr/>
        <a:lstStyle/>
        <a:p>
          <a:endParaRPr lang="en-US"/>
        </a:p>
      </dgm:t>
    </dgm:pt>
    <dgm:pt modelId="{C78368A8-9612-45FF-BF42-5DF1B05E3437}" type="sibTrans" cxnId="{11907789-486E-4980-8F13-C16AC5ADA0AA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51B20956-D3F7-4822-BDF5-C5FC17434A52}">
      <dgm:prSet/>
      <dgm:spPr/>
      <dgm:t>
        <a:bodyPr/>
        <a:lstStyle/>
        <a:p>
          <a:r>
            <a:rPr lang="en-US" b="0" i="0"/>
            <a:t>Understand how to determine skew in your dataset</a:t>
          </a:r>
          <a:endParaRPr lang="en-US"/>
        </a:p>
      </dgm:t>
    </dgm:pt>
    <dgm:pt modelId="{2B8637C9-1F9B-4875-A6E6-46F90CA90ADE}" type="parTrans" cxnId="{45CBEAF3-104A-4C8E-BC88-0EC46705423B}">
      <dgm:prSet/>
      <dgm:spPr/>
      <dgm:t>
        <a:bodyPr/>
        <a:lstStyle/>
        <a:p>
          <a:endParaRPr lang="en-US"/>
        </a:p>
      </dgm:t>
    </dgm:pt>
    <dgm:pt modelId="{29384AB4-D752-41CB-9858-43116D6412EC}" type="sibTrans" cxnId="{45CBEAF3-104A-4C8E-BC88-0EC46705423B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49F26AC4-9B33-4631-9B8C-92FA64733C20}">
      <dgm:prSet/>
      <dgm:spPr/>
      <dgm:t>
        <a:bodyPr/>
        <a:lstStyle/>
        <a:p>
          <a:r>
            <a:rPr lang="en-US" b="0" i="0"/>
            <a:t>Develop a toolbox of how to deal with skewed data</a:t>
          </a:r>
          <a:endParaRPr lang="en-US"/>
        </a:p>
      </dgm:t>
    </dgm:pt>
    <dgm:pt modelId="{C71DAFBC-A356-4890-8000-669EDD3CEFC4}" type="parTrans" cxnId="{97F98EE9-649F-44CC-86EE-EA16AD029262}">
      <dgm:prSet/>
      <dgm:spPr/>
      <dgm:t>
        <a:bodyPr/>
        <a:lstStyle/>
        <a:p>
          <a:endParaRPr lang="en-US"/>
        </a:p>
      </dgm:t>
    </dgm:pt>
    <dgm:pt modelId="{C8027C38-2214-47BC-A081-CC8CD96E3207}" type="sibTrans" cxnId="{97F98EE9-649F-44CC-86EE-EA16AD029262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13C41905-E70A-2042-A000-B6D5BD2E9B3B}">
      <dgm:prSet phldrT="[Text]"/>
      <dgm:spPr/>
      <dgm:t>
        <a:bodyPr/>
        <a:lstStyle/>
        <a:p>
          <a:r>
            <a:rPr lang="en-US" dirty="0"/>
            <a:t>Understand what to do if normalization fails.</a:t>
          </a:r>
        </a:p>
      </dgm:t>
    </dgm:pt>
    <dgm:pt modelId="{68EA095D-96D4-A544-9645-DBB49437BE2F}" type="parTrans" cxnId="{9C82E4ED-2409-434B-944B-A54981FAEC4A}">
      <dgm:prSet/>
      <dgm:spPr/>
    </dgm:pt>
    <dgm:pt modelId="{00EC4378-1CE3-2D4D-99C0-FBA948CA3A04}" type="sibTrans" cxnId="{9C82E4ED-2409-434B-944B-A54981FAEC4A}">
      <dgm:prSet phldrT="4" phldr="0"/>
      <dgm:spPr/>
      <dgm:t>
        <a:bodyPr/>
        <a:lstStyle/>
        <a:p>
          <a:r>
            <a:rPr lang="en-US"/>
            <a:t>4</a:t>
          </a:r>
        </a:p>
      </dgm:t>
    </dgm:pt>
    <dgm:pt modelId="{E968CAFC-9F68-FE43-9748-2FF219222490}" type="pres">
      <dgm:prSet presAssocID="{4BEE8537-3A9F-4D93-AAF8-BF7B064184B6}" presName="Name0" presStyleCnt="0">
        <dgm:presLayoutVars>
          <dgm:animLvl val="lvl"/>
          <dgm:resizeHandles val="exact"/>
        </dgm:presLayoutVars>
      </dgm:prSet>
      <dgm:spPr/>
    </dgm:pt>
    <dgm:pt modelId="{E2297464-C8F4-5D4F-B350-F315BE29858D}" type="pres">
      <dgm:prSet presAssocID="{B4A55DA0-D537-4F9A-A96A-206D950DE888}" presName="compositeNode" presStyleCnt="0">
        <dgm:presLayoutVars>
          <dgm:bulletEnabled val="1"/>
        </dgm:presLayoutVars>
      </dgm:prSet>
      <dgm:spPr/>
    </dgm:pt>
    <dgm:pt modelId="{F5531E6B-EE7E-C940-BBFC-AEA2CB55A651}" type="pres">
      <dgm:prSet presAssocID="{B4A55DA0-D537-4F9A-A96A-206D950DE888}" presName="bgRect" presStyleLbl="bgAccFollowNode1" presStyleIdx="0" presStyleCnt="4"/>
      <dgm:spPr/>
    </dgm:pt>
    <dgm:pt modelId="{A401024C-857A-3742-92F7-DDC5FF8C9A6D}" type="pres">
      <dgm:prSet presAssocID="{C78368A8-9612-45FF-BF42-5DF1B05E3437}" presName="sibTransNodeCircle" presStyleLbl="alignNode1" presStyleIdx="0" presStyleCnt="8">
        <dgm:presLayoutVars>
          <dgm:chMax val="0"/>
          <dgm:bulletEnabled/>
        </dgm:presLayoutVars>
      </dgm:prSet>
      <dgm:spPr/>
    </dgm:pt>
    <dgm:pt modelId="{9BF81B61-43D6-6A40-969F-601BB7E4DEE7}" type="pres">
      <dgm:prSet presAssocID="{B4A55DA0-D537-4F9A-A96A-206D950DE888}" presName="bottomLine" presStyleLbl="alignNode1" presStyleIdx="1" presStyleCnt="8">
        <dgm:presLayoutVars/>
      </dgm:prSet>
      <dgm:spPr/>
    </dgm:pt>
    <dgm:pt modelId="{8D352ACD-39F3-5746-B1C6-5768095E015B}" type="pres">
      <dgm:prSet presAssocID="{B4A55DA0-D537-4F9A-A96A-206D950DE888}" presName="nodeText" presStyleLbl="bgAccFollowNode1" presStyleIdx="0" presStyleCnt="4">
        <dgm:presLayoutVars>
          <dgm:bulletEnabled val="1"/>
        </dgm:presLayoutVars>
      </dgm:prSet>
      <dgm:spPr/>
    </dgm:pt>
    <dgm:pt modelId="{6CFDFB64-9146-EE4F-B374-16A18BDA0A3D}" type="pres">
      <dgm:prSet presAssocID="{C78368A8-9612-45FF-BF42-5DF1B05E3437}" presName="sibTrans" presStyleCnt="0"/>
      <dgm:spPr/>
    </dgm:pt>
    <dgm:pt modelId="{144DAB64-3E89-9047-BC93-55C7D8BB7D39}" type="pres">
      <dgm:prSet presAssocID="{51B20956-D3F7-4822-BDF5-C5FC17434A52}" presName="compositeNode" presStyleCnt="0">
        <dgm:presLayoutVars>
          <dgm:bulletEnabled val="1"/>
        </dgm:presLayoutVars>
      </dgm:prSet>
      <dgm:spPr/>
    </dgm:pt>
    <dgm:pt modelId="{32B93B80-C473-8043-8358-73280B6FF820}" type="pres">
      <dgm:prSet presAssocID="{51B20956-D3F7-4822-BDF5-C5FC17434A52}" presName="bgRect" presStyleLbl="bgAccFollowNode1" presStyleIdx="1" presStyleCnt="4"/>
      <dgm:spPr/>
    </dgm:pt>
    <dgm:pt modelId="{F53644B7-E4CD-BA4D-9930-3033535591E3}" type="pres">
      <dgm:prSet presAssocID="{29384AB4-D752-41CB-9858-43116D6412EC}" presName="sibTransNodeCircle" presStyleLbl="alignNode1" presStyleIdx="2" presStyleCnt="8">
        <dgm:presLayoutVars>
          <dgm:chMax val="0"/>
          <dgm:bulletEnabled/>
        </dgm:presLayoutVars>
      </dgm:prSet>
      <dgm:spPr/>
    </dgm:pt>
    <dgm:pt modelId="{DA12CE4D-73DF-6749-8F2C-55B36F986FB5}" type="pres">
      <dgm:prSet presAssocID="{51B20956-D3F7-4822-BDF5-C5FC17434A52}" presName="bottomLine" presStyleLbl="alignNode1" presStyleIdx="3" presStyleCnt="8">
        <dgm:presLayoutVars/>
      </dgm:prSet>
      <dgm:spPr/>
    </dgm:pt>
    <dgm:pt modelId="{67609B28-8CEB-5E4B-B846-D3954DE0827C}" type="pres">
      <dgm:prSet presAssocID="{51B20956-D3F7-4822-BDF5-C5FC17434A52}" presName="nodeText" presStyleLbl="bgAccFollowNode1" presStyleIdx="1" presStyleCnt="4">
        <dgm:presLayoutVars>
          <dgm:bulletEnabled val="1"/>
        </dgm:presLayoutVars>
      </dgm:prSet>
      <dgm:spPr/>
    </dgm:pt>
    <dgm:pt modelId="{2B7B08F4-5404-7B44-A810-FC3F5D6DD758}" type="pres">
      <dgm:prSet presAssocID="{29384AB4-D752-41CB-9858-43116D6412EC}" presName="sibTrans" presStyleCnt="0"/>
      <dgm:spPr/>
    </dgm:pt>
    <dgm:pt modelId="{7A913FF0-D7B7-A949-BD39-261C3AB01269}" type="pres">
      <dgm:prSet presAssocID="{49F26AC4-9B33-4631-9B8C-92FA64733C20}" presName="compositeNode" presStyleCnt="0">
        <dgm:presLayoutVars>
          <dgm:bulletEnabled val="1"/>
        </dgm:presLayoutVars>
      </dgm:prSet>
      <dgm:spPr/>
    </dgm:pt>
    <dgm:pt modelId="{0D44AC74-5C85-FC4A-9D74-BCD4956FCA91}" type="pres">
      <dgm:prSet presAssocID="{49F26AC4-9B33-4631-9B8C-92FA64733C20}" presName="bgRect" presStyleLbl="bgAccFollowNode1" presStyleIdx="2" presStyleCnt="4"/>
      <dgm:spPr/>
    </dgm:pt>
    <dgm:pt modelId="{8AFB3681-13EE-1544-B5A1-BF90B569B3E6}" type="pres">
      <dgm:prSet presAssocID="{C8027C38-2214-47BC-A081-CC8CD96E3207}" presName="sibTransNodeCircle" presStyleLbl="alignNode1" presStyleIdx="4" presStyleCnt="8">
        <dgm:presLayoutVars>
          <dgm:chMax val="0"/>
          <dgm:bulletEnabled/>
        </dgm:presLayoutVars>
      </dgm:prSet>
      <dgm:spPr/>
    </dgm:pt>
    <dgm:pt modelId="{7449331E-1B11-3141-ADBA-73DEF6C17A26}" type="pres">
      <dgm:prSet presAssocID="{49F26AC4-9B33-4631-9B8C-92FA64733C20}" presName="bottomLine" presStyleLbl="alignNode1" presStyleIdx="5" presStyleCnt="8">
        <dgm:presLayoutVars/>
      </dgm:prSet>
      <dgm:spPr/>
    </dgm:pt>
    <dgm:pt modelId="{47586F9C-9B54-EB4F-96C8-9783A5315693}" type="pres">
      <dgm:prSet presAssocID="{49F26AC4-9B33-4631-9B8C-92FA64733C20}" presName="nodeText" presStyleLbl="bgAccFollowNode1" presStyleIdx="2" presStyleCnt="4">
        <dgm:presLayoutVars>
          <dgm:bulletEnabled val="1"/>
        </dgm:presLayoutVars>
      </dgm:prSet>
      <dgm:spPr/>
    </dgm:pt>
    <dgm:pt modelId="{2A7802F4-BEB6-EA47-8EED-D3DCE7800C9A}" type="pres">
      <dgm:prSet presAssocID="{C8027C38-2214-47BC-A081-CC8CD96E3207}" presName="sibTrans" presStyleCnt="0"/>
      <dgm:spPr/>
    </dgm:pt>
    <dgm:pt modelId="{D58E89CE-0696-9448-B843-D8CE17FB8E1F}" type="pres">
      <dgm:prSet presAssocID="{13C41905-E70A-2042-A000-B6D5BD2E9B3B}" presName="compositeNode" presStyleCnt="0">
        <dgm:presLayoutVars>
          <dgm:bulletEnabled val="1"/>
        </dgm:presLayoutVars>
      </dgm:prSet>
      <dgm:spPr/>
    </dgm:pt>
    <dgm:pt modelId="{27D11AC7-A0F6-A941-9745-7807865620AC}" type="pres">
      <dgm:prSet presAssocID="{13C41905-E70A-2042-A000-B6D5BD2E9B3B}" presName="bgRect" presStyleLbl="bgAccFollowNode1" presStyleIdx="3" presStyleCnt="4"/>
      <dgm:spPr/>
    </dgm:pt>
    <dgm:pt modelId="{F98F7200-0AA2-524B-8D77-69243813A5FA}" type="pres">
      <dgm:prSet presAssocID="{00EC4378-1CE3-2D4D-99C0-FBA948CA3A04}" presName="sibTransNodeCircle" presStyleLbl="alignNode1" presStyleIdx="6" presStyleCnt="8">
        <dgm:presLayoutVars>
          <dgm:chMax val="0"/>
          <dgm:bulletEnabled/>
        </dgm:presLayoutVars>
      </dgm:prSet>
      <dgm:spPr/>
    </dgm:pt>
    <dgm:pt modelId="{C581505F-92FA-DB4D-A701-913FFA1DBE0C}" type="pres">
      <dgm:prSet presAssocID="{13C41905-E70A-2042-A000-B6D5BD2E9B3B}" presName="bottomLine" presStyleLbl="alignNode1" presStyleIdx="7" presStyleCnt="8">
        <dgm:presLayoutVars/>
      </dgm:prSet>
      <dgm:spPr/>
    </dgm:pt>
    <dgm:pt modelId="{A550224A-B7B9-EB4D-A768-06DB806025EB}" type="pres">
      <dgm:prSet presAssocID="{13C41905-E70A-2042-A000-B6D5BD2E9B3B}" presName="nodeText" presStyleLbl="bgAccFollowNode1" presStyleIdx="3" presStyleCnt="4">
        <dgm:presLayoutVars>
          <dgm:bulletEnabled val="1"/>
        </dgm:presLayoutVars>
      </dgm:prSet>
      <dgm:spPr/>
    </dgm:pt>
  </dgm:ptLst>
  <dgm:cxnLst>
    <dgm:cxn modelId="{08E1D010-6A2F-934F-A3AA-27F7A736BFCD}" type="presOf" srcId="{C78368A8-9612-45FF-BF42-5DF1B05E3437}" destId="{A401024C-857A-3742-92F7-DDC5FF8C9A6D}" srcOrd="0" destOrd="0" presId="urn:microsoft.com/office/officeart/2016/7/layout/BasicLinearProcessNumbered#1"/>
    <dgm:cxn modelId="{C7A94612-31A8-4A43-867E-83B36AB575C4}" type="presOf" srcId="{49F26AC4-9B33-4631-9B8C-92FA64733C20}" destId="{47586F9C-9B54-EB4F-96C8-9783A5315693}" srcOrd="1" destOrd="0" presId="urn:microsoft.com/office/officeart/2016/7/layout/BasicLinearProcessNumbered#1"/>
    <dgm:cxn modelId="{64BD271C-EDB3-9746-9F45-94DC0380D1C2}" type="presOf" srcId="{13C41905-E70A-2042-A000-B6D5BD2E9B3B}" destId="{27D11AC7-A0F6-A941-9745-7807865620AC}" srcOrd="0" destOrd="0" presId="urn:microsoft.com/office/officeart/2016/7/layout/BasicLinearProcessNumbered#1"/>
    <dgm:cxn modelId="{D723361D-8E51-D041-B13D-382EF8CE38F4}" type="presOf" srcId="{B4A55DA0-D537-4F9A-A96A-206D950DE888}" destId="{8D352ACD-39F3-5746-B1C6-5768095E015B}" srcOrd="1" destOrd="0" presId="urn:microsoft.com/office/officeart/2016/7/layout/BasicLinearProcessNumbered#1"/>
    <dgm:cxn modelId="{248AB33B-594D-A148-B525-9331469110A1}" type="presOf" srcId="{51B20956-D3F7-4822-BDF5-C5FC17434A52}" destId="{67609B28-8CEB-5E4B-B846-D3954DE0827C}" srcOrd="1" destOrd="0" presId="urn:microsoft.com/office/officeart/2016/7/layout/BasicLinearProcessNumbered#1"/>
    <dgm:cxn modelId="{4DC53A3F-7AD0-4941-A3A9-E59C444470CD}" type="presOf" srcId="{B4A55DA0-D537-4F9A-A96A-206D950DE888}" destId="{F5531E6B-EE7E-C940-BBFC-AEA2CB55A651}" srcOrd="0" destOrd="0" presId="urn:microsoft.com/office/officeart/2016/7/layout/BasicLinearProcessNumbered#1"/>
    <dgm:cxn modelId="{5CB7244A-8D15-6344-95ED-96F24678AC89}" type="presOf" srcId="{00EC4378-1CE3-2D4D-99C0-FBA948CA3A04}" destId="{F98F7200-0AA2-524B-8D77-69243813A5FA}" srcOrd="0" destOrd="0" presId="urn:microsoft.com/office/officeart/2016/7/layout/BasicLinearProcessNumbered#1"/>
    <dgm:cxn modelId="{8C1D9580-0EB2-2544-83DE-6C4C15D05819}" type="presOf" srcId="{13C41905-E70A-2042-A000-B6D5BD2E9B3B}" destId="{A550224A-B7B9-EB4D-A768-06DB806025EB}" srcOrd="1" destOrd="0" presId="urn:microsoft.com/office/officeart/2016/7/layout/BasicLinearProcessNumbered#1"/>
    <dgm:cxn modelId="{ED722389-DD2C-6A41-BA55-B715B7D6365C}" type="presOf" srcId="{49F26AC4-9B33-4631-9B8C-92FA64733C20}" destId="{0D44AC74-5C85-FC4A-9D74-BCD4956FCA91}" srcOrd="0" destOrd="0" presId="urn:microsoft.com/office/officeart/2016/7/layout/BasicLinearProcessNumbered#1"/>
    <dgm:cxn modelId="{11907789-486E-4980-8F13-C16AC5ADA0AA}" srcId="{4BEE8537-3A9F-4D93-AAF8-BF7B064184B6}" destId="{B4A55DA0-D537-4F9A-A96A-206D950DE888}" srcOrd="0" destOrd="0" parTransId="{8684FDF0-66D5-481F-AB2A-7A982DF21ABB}" sibTransId="{C78368A8-9612-45FF-BF42-5DF1B05E3437}"/>
    <dgm:cxn modelId="{63EE6098-4EA4-644E-BD94-85BE7B929DD9}" type="presOf" srcId="{51B20956-D3F7-4822-BDF5-C5FC17434A52}" destId="{32B93B80-C473-8043-8358-73280B6FF820}" srcOrd="0" destOrd="0" presId="urn:microsoft.com/office/officeart/2016/7/layout/BasicLinearProcessNumbered#1"/>
    <dgm:cxn modelId="{662A89B5-CDFD-5148-9B48-AAD59E59944D}" type="presOf" srcId="{29384AB4-D752-41CB-9858-43116D6412EC}" destId="{F53644B7-E4CD-BA4D-9930-3033535591E3}" srcOrd="0" destOrd="0" presId="urn:microsoft.com/office/officeart/2016/7/layout/BasicLinearProcessNumbered#1"/>
    <dgm:cxn modelId="{97F98EE9-649F-44CC-86EE-EA16AD029262}" srcId="{4BEE8537-3A9F-4D93-AAF8-BF7B064184B6}" destId="{49F26AC4-9B33-4631-9B8C-92FA64733C20}" srcOrd="2" destOrd="0" parTransId="{C71DAFBC-A356-4890-8000-669EDD3CEFC4}" sibTransId="{C8027C38-2214-47BC-A081-CC8CD96E3207}"/>
    <dgm:cxn modelId="{31517CED-5020-9542-95F3-36AB2E7411FB}" type="presOf" srcId="{C8027C38-2214-47BC-A081-CC8CD96E3207}" destId="{8AFB3681-13EE-1544-B5A1-BF90B569B3E6}" srcOrd="0" destOrd="0" presId="urn:microsoft.com/office/officeart/2016/7/layout/BasicLinearProcessNumbered#1"/>
    <dgm:cxn modelId="{9C82E4ED-2409-434B-944B-A54981FAEC4A}" srcId="{4BEE8537-3A9F-4D93-AAF8-BF7B064184B6}" destId="{13C41905-E70A-2042-A000-B6D5BD2E9B3B}" srcOrd="3" destOrd="0" parTransId="{68EA095D-96D4-A544-9645-DBB49437BE2F}" sibTransId="{00EC4378-1CE3-2D4D-99C0-FBA948CA3A04}"/>
    <dgm:cxn modelId="{ADEF4FF2-2F66-B841-B31C-781FAA4AE60A}" type="presOf" srcId="{4BEE8537-3A9F-4D93-AAF8-BF7B064184B6}" destId="{E968CAFC-9F68-FE43-9748-2FF219222490}" srcOrd="0" destOrd="0" presId="urn:microsoft.com/office/officeart/2016/7/layout/BasicLinearProcessNumbered#1"/>
    <dgm:cxn modelId="{45CBEAF3-104A-4C8E-BC88-0EC46705423B}" srcId="{4BEE8537-3A9F-4D93-AAF8-BF7B064184B6}" destId="{51B20956-D3F7-4822-BDF5-C5FC17434A52}" srcOrd="1" destOrd="0" parTransId="{2B8637C9-1F9B-4875-A6E6-46F90CA90ADE}" sibTransId="{29384AB4-D752-41CB-9858-43116D6412EC}"/>
    <dgm:cxn modelId="{BF75C2E2-D74F-8142-8DC3-F762C2B63A16}" type="presParOf" srcId="{E968CAFC-9F68-FE43-9748-2FF219222490}" destId="{E2297464-C8F4-5D4F-B350-F315BE29858D}" srcOrd="0" destOrd="0" presId="urn:microsoft.com/office/officeart/2016/7/layout/BasicLinearProcessNumbered#1"/>
    <dgm:cxn modelId="{93CF6CE9-CCCB-8C45-A29C-AB0C9857F184}" type="presParOf" srcId="{E2297464-C8F4-5D4F-B350-F315BE29858D}" destId="{F5531E6B-EE7E-C940-BBFC-AEA2CB55A651}" srcOrd="0" destOrd="0" presId="urn:microsoft.com/office/officeart/2016/7/layout/BasicLinearProcessNumbered#1"/>
    <dgm:cxn modelId="{8A8EFED7-6C87-014C-9F6F-2B37D7A3D47B}" type="presParOf" srcId="{E2297464-C8F4-5D4F-B350-F315BE29858D}" destId="{A401024C-857A-3742-92F7-DDC5FF8C9A6D}" srcOrd="1" destOrd="0" presId="urn:microsoft.com/office/officeart/2016/7/layout/BasicLinearProcessNumbered#1"/>
    <dgm:cxn modelId="{223F46E8-AB34-4149-BDBF-00065ACA19ED}" type="presParOf" srcId="{E2297464-C8F4-5D4F-B350-F315BE29858D}" destId="{9BF81B61-43D6-6A40-969F-601BB7E4DEE7}" srcOrd="2" destOrd="0" presId="urn:microsoft.com/office/officeart/2016/7/layout/BasicLinearProcessNumbered#1"/>
    <dgm:cxn modelId="{C28F4C06-2490-B243-BB6A-F53A84BD2407}" type="presParOf" srcId="{E2297464-C8F4-5D4F-B350-F315BE29858D}" destId="{8D352ACD-39F3-5746-B1C6-5768095E015B}" srcOrd="3" destOrd="0" presId="urn:microsoft.com/office/officeart/2016/7/layout/BasicLinearProcessNumbered#1"/>
    <dgm:cxn modelId="{6021B8B1-8F33-4645-9A6B-41F290E654CF}" type="presParOf" srcId="{E968CAFC-9F68-FE43-9748-2FF219222490}" destId="{6CFDFB64-9146-EE4F-B374-16A18BDA0A3D}" srcOrd="1" destOrd="0" presId="urn:microsoft.com/office/officeart/2016/7/layout/BasicLinearProcessNumbered#1"/>
    <dgm:cxn modelId="{62468F63-8437-5840-99C6-F92B690570BB}" type="presParOf" srcId="{E968CAFC-9F68-FE43-9748-2FF219222490}" destId="{144DAB64-3E89-9047-BC93-55C7D8BB7D39}" srcOrd="2" destOrd="0" presId="urn:microsoft.com/office/officeart/2016/7/layout/BasicLinearProcessNumbered#1"/>
    <dgm:cxn modelId="{A9D2865B-7369-A746-B193-4C49A5FCA660}" type="presParOf" srcId="{144DAB64-3E89-9047-BC93-55C7D8BB7D39}" destId="{32B93B80-C473-8043-8358-73280B6FF820}" srcOrd="0" destOrd="0" presId="urn:microsoft.com/office/officeart/2016/7/layout/BasicLinearProcessNumbered#1"/>
    <dgm:cxn modelId="{8EA5759A-9757-FB4F-BD1C-FFB19E23D590}" type="presParOf" srcId="{144DAB64-3E89-9047-BC93-55C7D8BB7D39}" destId="{F53644B7-E4CD-BA4D-9930-3033535591E3}" srcOrd="1" destOrd="0" presId="urn:microsoft.com/office/officeart/2016/7/layout/BasicLinearProcessNumbered#1"/>
    <dgm:cxn modelId="{2B6B2126-CCEB-C94A-929F-10A9732B2086}" type="presParOf" srcId="{144DAB64-3E89-9047-BC93-55C7D8BB7D39}" destId="{DA12CE4D-73DF-6749-8F2C-55B36F986FB5}" srcOrd="2" destOrd="0" presId="urn:microsoft.com/office/officeart/2016/7/layout/BasicLinearProcessNumbered#1"/>
    <dgm:cxn modelId="{22CCF0C0-BDE5-FD4C-BAA6-554FAFF8DF68}" type="presParOf" srcId="{144DAB64-3E89-9047-BC93-55C7D8BB7D39}" destId="{67609B28-8CEB-5E4B-B846-D3954DE0827C}" srcOrd="3" destOrd="0" presId="urn:microsoft.com/office/officeart/2016/7/layout/BasicLinearProcessNumbered#1"/>
    <dgm:cxn modelId="{E0D98C00-375C-ED4F-8041-D001CC88E725}" type="presParOf" srcId="{E968CAFC-9F68-FE43-9748-2FF219222490}" destId="{2B7B08F4-5404-7B44-A810-FC3F5D6DD758}" srcOrd="3" destOrd="0" presId="urn:microsoft.com/office/officeart/2016/7/layout/BasicLinearProcessNumbered#1"/>
    <dgm:cxn modelId="{ECB20B46-8DC8-BA4D-A911-21F82D00F3A8}" type="presParOf" srcId="{E968CAFC-9F68-FE43-9748-2FF219222490}" destId="{7A913FF0-D7B7-A949-BD39-261C3AB01269}" srcOrd="4" destOrd="0" presId="urn:microsoft.com/office/officeart/2016/7/layout/BasicLinearProcessNumbered#1"/>
    <dgm:cxn modelId="{42D55C35-B69B-F340-AE07-F22790E443E9}" type="presParOf" srcId="{7A913FF0-D7B7-A949-BD39-261C3AB01269}" destId="{0D44AC74-5C85-FC4A-9D74-BCD4956FCA91}" srcOrd="0" destOrd="0" presId="urn:microsoft.com/office/officeart/2016/7/layout/BasicLinearProcessNumbered#1"/>
    <dgm:cxn modelId="{9FBEEF6E-86DF-284D-B50B-8DB09B086B70}" type="presParOf" srcId="{7A913FF0-D7B7-A949-BD39-261C3AB01269}" destId="{8AFB3681-13EE-1544-B5A1-BF90B569B3E6}" srcOrd="1" destOrd="0" presId="urn:microsoft.com/office/officeart/2016/7/layout/BasicLinearProcessNumbered#1"/>
    <dgm:cxn modelId="{1F2A94F4-E5DC-2847-8079-F05941491160}" type="presParOf" srcId="{7A913FF0-D7B7-A949-BD39-261C3AB01269}" destId="{7449331E-1B11-3141-ADBA-73DEF6C17A26}" srcOrd="2" destOrd="0" presId="urn:microsoft.com/office/officeart/2016/7/layout/BasicLinearProcessNumbered#1"/>
    <dgm:cxn modelId="{20DB4CE8-B8AA-1D4B-8FBE-9CEA9C9FF1F4}" type="presParOf" srcId="{7A913FF0-D7B7-A949-BD39-261C3AB01269}" destId="{47586F9C-9B54-EB4F-96C8-9783A5315693}" srcOrd="3" destOrd="0" presId="urn:microsoft.com/office/officeart/2016/7/layout/BasicLinearProcessNumbered#1"/>
    <dgm:cxn modelId="{91191685-0E00-3A4B-A8C8-E3361A812820}" type="presParOf" srcId="{E968CAFC-9F68-FE43-9748-2FF219222490}" destId="{2A7802F4-BEB6-EA47-8EED-D3DCE7800C9A}" srcOrd="5" destOrd="0" presId="urn:microsoft.com/office/officeart/2016/7/layout/BasicLinearProcessNumbered#1"/>
    <dgm:cxn modelId="{8927EF30-89A0-6140-B9C6-4CDBC30FA883}" type="presParOf" srcId="{E968CAFC-9F68-FE43-9748-2FF219222490}" destId="{D58E89CE-0696-9448-B843-D8CE17FB8E1F}" srcOrd="6" destOrd="0" presId="urn:microsoft.com/office/officeart/2016/7/layout/BasicLinearProcessNumbered#1"/>
    <dgm:cxn modelId="{A0AA3ADF-FBB3-4C47-9A4F-9002E0E8DD28}" type="presParOf" srcId="{D58E89CE-0696-9448-B843-D8CE17FB8E1F}" destId="{27D11AC7-A0F6-A941-9745-7807865620AC}" srcOrd="0" destOrd="0" presId="urn:microsoft.com/office/officeart/2016/7/layout/BasicLinearProcessNumbered#1"/>
    <dgm:cxn modelId="{78287DEB-B150-6247-B9D7-CFFD284DE775}" type="presParOf" srcId="{D58E89CE-0696-9448-B843-D8CE17FB8E1F}" destId="{F98F7200-0AA2-524B-8D77-69243813A5FA}" srcOrd="1" destOrd="0" presId="urn:microsoft.com/office/officeart/2016/7/layout/BasicLinearProcessNumbered#1"/>
    <dgm:cxn modelId="{1C721DC8-F0C9-B242-AF5F-E76910ED5DC0}" type="presParOf" srcId="{D58E89CE-0696-9448-B843-D8CE17FB8E1F}" destId="{C581505F-92FA-DB4D-A701-913FFA1DBE0C}" srcOrd="2" destOrd="0" presId="urn:microsoft.com/office/officeart/2016/7/layout/BasicLinearProcessNumbered#1"/>
    <dgm:cxn modelId="{7DA6A597-5E0B-B349-885B-FA7548453F5C}" type="presParOf" srcId="{D58E89CE-0696-9448-B843-D8CE17FB8E1F}" destId="{A550224A-B7B9-EB4D-A768-06DB806025EB}" srcOrd="3" destOrd="0" presId="urn:microsoft.com/office/officeart/2016/7/layout/BasicLinearProcessNumbered#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5531E6B-EE7E-C940-BBFC-AEA2CB55A651}">
      <dsp:nvSpPr>
        <dsp:cNvPr id="0" name=""/>
        <dsp:cNvSpPr/>
      </dsp:nvSpPr>
      <dsp:spPr>
        <a:xfrm>
          <a:off x="2819" y="145336"/>
          <a:ext cx="2237149" cy="3132009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4417" tIns="330200" rIns="174417" bIns="33020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/>
            <a:t>Define a normal vs. non-normal distribution and when it matters</a:t>
          </a:r>
          <a:endParaRPr lang="en-US" sz="1900" kern="1200"/>
        </a:p>
      </dsp:txBody>
      <dsp:txXfrm>
        <a:off x="2819" y="1335500"/>
        <a:ext cx="2237149" cy="1879205"/>
      </dsp:txXfrm>
    </dsp:sp>
    <dsp:sp modelId="{A401024C-857A-3742-92F7-DDC5FF8C9A6D}">
      <dsp:nvSpPr>
        <dsp:cNvPr id="0" name=""/>
        <dsp:cNvSpPr/>
      </dsp:nvSpPr>
      <dsp:spPr>
        <a:xfrm>
          <a:off x="651593" y="458537"/>
          <a:ext cx="939602" cy="939602"/>
        </a:xfrm>
        <a:prstGeom prst="ellips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3255" tIns="12700" rIns="73255" bIns="12700" numCol="1" spcCol="1270" anchor="ctr" anchorCtr="0">
          <a:noAutofit/>
        </a:bodyPr>
        <a:lstStyle/>
        <a:p>
          <a:pPr marL="0" lvl="0" indent="0" algn="ctr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/>
            <a:t>1</a:t>
          </a:r>
        </a:p>
      </dsp:txBody>
      <dsp:txXfrm>
        <a:off x="789195" y="596139"/>
        <a:ext cx="664398" cy="664398"/>
      </dsp:txXfrm>
    </dsp:sp>
    <dsp:sp modelId="{9BF81B61-43D6-6A40-969F-601BB7E4DEE7}">
      <dsp:nvSpPr>
        <dsp:cNvPr id="0" name=""/>
        <dsp:cNvSpPr/>
      </dsp:nvSpPr>
      <dsp:spPr>
        <a:xfrm>
          <a:off x="2819" y="3277274"/>
          <a:ext cx="2237149" cy="72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2B93B80-C473-8043-8358-73280B6FF820}">
      <dsp:nvSpPr>
        <dsp:cNvPr id="0" name=""/>
        <dsp:cNvSpPr/>
      </dsp:nvSpPr>
      <dsp:spPr>
        <a:xfrm>
          <a:off x="2463684" y="145336"/>
          <a:ext cx="2237149" cy="3132009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9525" cap="rnd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4417" tIns="330200" rIns="174417" bIns="33020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/>
            <a:t>Understand how to determine skew in your dataset</a:t>
          </a:r>
          <a:endParaRPr lang="en-US" sz="1900" kern="1200"/>
        </a:p>
      </dsp:txBody>
      <dsp:txXfrm>
        <a:off x="2463684" y="1335500"/>
        <a:ext cx="2237149" cy="1879205"/>
      </dsp:txXfrm>
    </dsp:sp>
    <dsp:sp modelId="{F53644B7-E4CD-BA4D-9930-3033535591E3}">
      <dsp:nvSpPr>
        <dsp:cNvPr id="0" name=""/>
        <dsp:cNvSpPr/>
      </dsp:nvSpPr>
      <dsp:spPr>
        <a:xfrm>
          <a:off x="3112457" y="458537"/>
          <a:ext cx="939602" cy="939602"/>
        </a:xfrm>
        <a:prstGeom prst="ellipse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3255" tIns="12700" rIns="73255" bIns="12700" numCol="1" spcCol="1270" anchor="ctr" anchorCtr="0">
          <a:noAutofit/>
        </a:bodyPr>
        <a:lstStyle/>
        <a:p>
          <a:pPr marL="0" lvl="0" indent="0" algn="ctr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/>
            <a:t>2</a:t>
          </a:r>
        </a:p>
      </dsp:txBody>
      <dsp:txXfrm>
        <a:off x="3250059" y="596139"/>
        <a:ext cx="664398" cy="664398"/>
      </dsp:txXfrm>
    </dsp:sp>
    <dsp:sp modelId="{DA12CE4D-73DF-6749-8F2C-55B36F986FB5}">
      <dsp:nvSpPr>
        <dsp:cNvPr id="0" name=""/>
        <dsp:cNvSpPr/>
      </dsp:nvSpPr>
      <dsp:spPr>
        <a:xfrm>
          <a:off x="2463684" y="3277274"/>
          <a:ext cx="2237149" cy="72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D44AC74-5C85-FC4A-9D74-BCD4956FCA91}">
      <dsp:nvSpPr>
        <dsp:cNvPr id="0" name=""/>
        <dsp:cNvSpPr/>
      </dsp:nvSpPr>
      <dsp:spPr>
        <a:xfrm>
          <a:off x="4924548" y="145336"/>
          <a:ext cx="2237149" cy="3132009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9525" cap="rnd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4417" tIns="330200" rIns="174417" bIns="33020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/>
            <a:t>Develop a toolbox of how to deal with skewed data</a:t>
          </a:r>
          <a:endParaRPr lang="en-US" sz="1900" kern="1200"/>
        </a:p>
      </dsp:txBody>
      <dsp:txXfrm>
        <a:off x="4924548" y="1335500"/>
        <a:ext cx="2237149" cy="1879205"/>
      </dsp:txXfrm>
    </dsp:sp>
    <dsp:sp modelId="{8AFB3681-13EE-1544-B5A1-BF90B569B3E6}">
      <dsp:nvSpPr>
        <dsp:cNvPr id="0" name=""/>
        <dsp:cNvSpPr/>
      </dsp:nvSpPr>
      <dsp:spPr>
        <a:xfrm>
          <a:off x="5573322" y="458537"/>
          <a:ext cx="939602" cy="939602"/>
        </a:xfrm>
        <a:prstGeom prst="ellipse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3255" tIns="12700" rIns="73255" bIns="12700" numCol="1" spcCol="1270" anchor="ctr" anchorCtr="0">
          <a:noAutofit/>
        </a:bodyPr>
        <a:lstStyle/>
        <a:p>
          <a:pPr marL="0" lvl="0" indent="0" algn="ctr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/>
            <a:t>3</a:t>
          </a:r>
        </a:p>
      </dsp:txBody>
      <dsp:txXfrm>
        <a:off x="5710924" y="596139"/>
        <a:ext cx="664398" cy="664398"/>
      </dsp:txXfrm>
    </dsp:sp>
    <dsp:sp modelId="{7449331E-1B11-3141-ADBA-73DEF6C17A26}">
      <dsp:nvSpPr>
        <dsp:cNvPr id="0" name=""/>
        <dsp:cNvSpPr/>
      </dsp:nvSpPr>
      <dsp:spPr>
        <a:xfrm>
          <a:off x="4924548" y="3277274"/>
          <a:ext cx="2237149" cy="72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7D11AC7-A0F6-A941-9745-7807865620AC}">
      <dsp:nvSpPr>
        <dsp:cNvPr id="0" name=""/>
        <dsp:cNvSpPr/>
      </dsp:nvSpPr>
      <dsp:spPr>
        <a:xfrm>
          <a:off x="7385413" y="145336"/>
          <a:ext cx="2237149" cy="3132009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9525" cap="rnd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4417" tIns="330200" rIns="174417" bIns="33020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Understand what to do if normalization fails.</a:t>
          </a:r>
        </a:p>
      </dsp:txBody>
      <dsp:txXfrm>
        <a:off x="7385413" y="1335500"/>
        <a:ext cx="2237149" cy="1879205"/>
      </dsp:txXfrm>
    </dsp:sp>
    <dsp:sp modelId="{F98F7200-0AA2-524B-8D77-69243813A5FA}">
      <dsp:nvSpPr>
        <dsp:cNvPr id="0" name=""/>
        <dsp:cNvSpPr/>
      </dsp:nvSpPr>
      <dsp:spPr>
        <a:xfrm>
          <a:off x="8034186" y="458537"/>
          <a:ext cx="939602" cy="939602"/>
        </a:xfrm>
        <a:prstGeom prst="ellips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3255" tIns="12700" rIns="73255" bIns="12700" numCol="1" spcCol="1270" anchor="ctr" anchorCtr="0">
          <a:noAutofit/>
        </a:bodyPr>
        <a:lstStyle/>
        <a:p>
          <a:pPr marL="0" lvl="0" indent="0" algn="ctr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/>
            <a:t>4</a:t>
          </a:r>
        </a:p>
      </dsp:txBody>
      <dsp:txXfrm>
        <a:off x="8171788" y="596139"/>
        <a:ext cx="664398" cy="664398"/>
      </dsp:txXfrm>
    </dsp:sp>
    <dsp:sp modelId="{C581505F-92FA-DB4D-A701-913FFA1DBE0C}">
      <dsp:nvSpPr>
        <dsp:cNvPr id="0" name=""/>
        <dsp:cNvSpPr/>
      </dsp:nvSpPr>
      <dsp:spPr>
        <a:xfrm>
          <a:off x="7385413" y="3277274"/>
          <a:ext cx="2237149" cy="72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5531E6B-EE7E-C940-BBFC-AEA2CB55A651}">
      <dsp:nvSpPr>
        <dsp:cNvPr id="0" name=""/>
        <dsp:cNvSpPr/>
      </dsp:nvSpPr>
      <dsp:spPr>
        <a:xfrm>
          <a:off x="2819" y="145336"/>
          <a:ext cx="2237149" cy="3132009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4417" tIns="330200" rIns="174417" bIns="33020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/>
            <a:t>Define a normal vs. non-normal distribution and when it matters</a:t>
          </a:r>
          <a:endParaRPr lang="en-US" sz="1900" kern="1200"/>
        </a:p>
      </dsp:txBody>
      <dsp:txXfrm>
        <a:off x="2819" y="1335500"/>
        <a:ext cx="2237149" cy="1879205"/>
      </dsp:txXfrm>
    </dsp:sp>
    <dsp:sp modelId="{A401024C-857A-3742-92F7-DDC5FF8C9A6D}">
      <dsp:nvSpPr>
        <dsp:cNvPr id="0" name=""/>
        <dsp:cNvSpPr/>
      </dsp:nvSpPr>
      <dsp:spPr>
        <a:xfrm>
          <a:off x="651593" y="458537"/>
          <a:ext cx="939602" cy="939602"/>
        </a:xfrm>
        <a:prstGeom prst="ellips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3255" tIns="12700" rIns="73255" bIns="12700" numCol="1" spcCol="1270" anchor="ctr" anchorCtr="0">
          <a:noAutofit/>
        </a:bodyPr>
        <a:lstStyle/>
        <a:p>
          <a:pPr marL="0" lvl="0" indent="0" algn="ctr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/>
            <a:t>1</a:t>
          </a:r>
        </a:p>
      </dsp:txBody>
      <dsp:txXfrm>
        <a:off x="789195" y="596139"/>
        <a:ext cx="664398" cy="664398"/>
      </dsp:txXfrm>
    </dsp:sp>
    <dsp:sp modelId="{9BF81B61-43D6-6A40-969F-601BB7E4DEE7}">
      <dsp:nvSpPr>
        <dsp:cNvPr id="0" name=""/>
        <dsp:cNvSpPr/>
      </dsp:nvSpPr>
      <dsp:spPr>
        <a:xfrm>
          <a:off x="2819" y="3277274"/>
          <a:ext cx="2237149" cy="72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2B93B80-C473-8043-8358-73280B6FF820}">
      <dsp:nvSpPr>
        <dsp:cNvPr id="0" name=""/>
        <dsp:cNvSpPr/>
      </dsp:nvSpPr>
      <dsp:spPr>
        <a:xfrm>
          <a:off x="2463684" y="145336"/>
          <a:ext cx="2237149" cy="3132009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9525" cap="rnd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4417" tIns="330200" rIns="174417" bIns="33020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/>
            <a:t>Understand how to determine skew in your dataset</a:t>
          </a:r>
          <a:endParaRPr lang="en-US" sz="1900" kern="1200"/>
        </a:p>
      </dsp:txBody>
      <dsp:txXfrm>
        <a:off x="2463684" y="1335500"/>
        <a:ext cx="2237149" cy="1879205"/>
      </dsp:txXfrm>
    </dsp:sp>
    <dsp:sp modelId="{F53644B7-E4CD-BA4D-9930-3033535591E3}">
      <dsp:nvSpPr>
        <dsp:cNvPr id="0" name=""/>
        <dsp:cNvSpPr/>
      </dsp:nvSpPr>
      <dsp:spPr>
        <a:xfrm>
          <a:off x="3112457" y="458537"/>
          <a:ext cx="939602" cy="939602"/>
        </a:xfrm>
        <a:prstGeom prst="ellipse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3255" tIns="12700" rIns="73255" bIns="12700" numCol="1" spcCol="1270" anchor="ctr" anchorCtr="0">
          <a:noAutofit/>
        </a:bodyPr>
        <a:lstStyle/>
        <a:p>
          <a:pPr marL="0" lvl="0" indent="0" algn="ctr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/>
            <a:t>2</a:t>
          </a:r>
        </a:p>
      </dsp:txBody>
      <dsp:txXfrm>
        <a:off x="3250059" y="596139"/>
        <a:ext cx="664398" cy="664398"/>
      </dsp:txXfrm>
    </dsp:sp>
    <dsp:sp modelId="{DA12CE4D-73DF-6749-8F2C-55B36F986FB5}">
      <dsp:nvSpPr>
        <dsp:cNvPr id="0" name=""/>
        <dsp:cNvSpPr/>
      </dsp:nvSpPr>
      <dsp:spPr>
        <a:xfrm>
          <a:off x="2463684" y="3277274"/>
          <a:ext cx="2237149" cy="72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D44AC74-5C85-FC4A-9D74-BCD4956FCA91}">
      <dsp:nvSpPr>
        <dsp:cNvPr id="0" name=""/>
        <dsp:cNvSpPr/>
      </dsp:nvSpPr>
      <dsp:spPr>
        <a:xfrm>
          <a:off x="4924548" y="145336"/>
          <a:ext cx="2237149" cy="3132009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9525" cap="rnd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4417" tIns="330200" rIns="174417" bIns="33020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/>
            <a:t>Develop a toolbox of how to deal with skewed data</a:t>
          </a:r>
          <a:endParaRPr lang="en-US" sz="1900" kern="1200"/>
        </a:p>
      </dsp:txBody>
      <dsp:txXfrm>
        <a:off x="4924548" y="1335500"/>
        <a:ext cx="2237149" cy="1879205"/>
      </dsp:txXfrm>
    </dsp:sp>
    <dsp:sp modelId="{8AFB3681-13EE-1544-B5A1-BF90B569B3E6}">
      <dsp:nvSpPr>
        <dsp:cNvPr id="0" name=""/>
        <dsp:cNvSpPr/>
      </dsp:nvSpPr>
      <dsp:spPr>
        <a:xfrm>
          <a:off x="5573322" y="458537"/>
          <a:ext cx="939602" cy="939602"/>
        </a:xfrm>
        <a:prstGeom prst="ellipse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3255" tIns="12700" rIns="73255" bIns="12700" numCol="1" spcCol="1270" anchor="ctr" anchorCtr="0">
          <a:noAutofit/>
        </a:bodyPr>
        <a:lstStyle/>
        <a:p>
          <a:pPr marL="0" lvl="0" indent="0" algn="ctr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/>
            <a:t>3</a:t>
          </a:r>
        </a:p>
      </dsp:txBody>
      <dsp:txXfrm>
        <a:off x="5710924" y="596139"/>
        <a:ext cx="664398" cy="664398"/>
      </dsp:txXfrm>
    </dsp:sp>
    <dsp:sp modelId="{7449331E-1B11-3141-ADBA-73DEF6C17A26}">
      <dsp:nvSpPr>
        <dsp:cNvPr id="0" name=""/>
        <dsp:cNvSpPr/>
      </dsp:nvSpPr>
      <dsp:spPr>
        <a:xfrm>
          <a:off x="4924548" y="3277274"/>
          <a:ext cx="2237149" cy="72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7D11AC7-A0F6-A941-9745-7807865620AC}">
      <dsp:nvSpPr>
        <dsp:cNvPr id="0" name=""/>
        <dsp:cNvSpPr/>
      </dsp:nvSpPr>
      <dsp:spPr>
        <a:xfrm>
          <a:off x="7385413" y="145336"/>
          <a:ext cx="2237149" cy="3132009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9525" cap="rnd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4417" tIns="330200" rIns="174417" bIns="33020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Understand what to do if normalization fails.</a:t>
          </a:r>
        </a:p>
      </dsp:txBody>
      <dsp:txXfrm>
        <a:off x="7385413" y="1335500"/>
        <a:ext cx="2237149" cy="1879205"/>
      </dsp:txXfrm>
    </dsp:sp>
    <dsp:sp modelId="{F98F7200-0AA2-524B-8D77-69243813A5FA}">
      <dsp:nvSpPr>
        <dsp:cNvPr id="0" name=""/>
        <dsp:cNvSpPr/>
      </dsp:nvSpPr>
      <dsp:spPr>
        <a:xfrm>
          <a:off x="8034186" y="458537"/>
          <a:ext cx="939602" cy="939602"/>
        </a:xfrm>
        <a:prstGeom prst="ellips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3255" tIns="12700" rIns="73255" bIns="12700" numCol="1" spcCol="1270" anchor="ctr" anchorCtr="0">
          <a:noAutofit/>
        </a:bodyPr>
        <a:lstStyle/>
        <a:p>
          <a:pPr marL="0" lvl="0" indent="0" algn="ctr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/>
            <a:t>4</a:t>
          </a:r>
        </a:p>
      </dsp:txBody>
      <dsp:txXfrm>
        <a:off x="8171788" y="596139"/>
        <a:ext cx="664398" cy="664398"/>
      </dsp:txXfrm>
    </dsp:sp>
    <dsp:sp modelId="{C581505F-92FA-DB4D-A701-913FFA1DBE0C}">
      <dsp:nvSpPr>
        <dsp:cNvPr id="0" name=""/>
        <dsp:cNvSpPr/>
      </dsp:nvSpPr>
      <dsp:spPr>
        <a:xfrm>
          <a:off x="7385413" y="3277274"/>
          <a:ext cx="2237149" cy="72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{0410A790-9B50-0B47-8FDA-DDCEC97362F1}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{2F01FCCE-55AB-F348-AB66-D35E109864A7}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{A892C4A0-5C70-7E45-B123-11D0AB270378}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BasicLinearProcessNumbered#1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{0410A790-9B50-0B47-8FDA-DDCEC97362F1}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{2F01FCCE-55AB-F348-AB66-D35E109864A7}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{A892C4A0-5C70-7E45-B123-11D0AB270378}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12B525-617A-C241-8A56-D36B95741A5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B159D7-3F9A-5C49-B0CF-E7444B3B4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675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B159D7-3F9A-5C49-B0CF-E7444B3B457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6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standard normal distribution has a  mean is 0 and the standard deviation is 1. 68% of all values should fall within 1 SD of the mean, 95% of all values should fall within 2 SD of the mean. Values under the tails of the distribution are highly unlikely! We can calculate p-values by plotting our observed value on simulated normally distributed data ( if H0 is true) to see what the probability of getting our observed data is if H0 is true. </a:t>
            </a:r>
          </a:p>
          <a:p>
            <a:r>
              <a:rPr lang="en-US" dirty="0">
                <a:solidFill>
                  <a:srgbClr val="FFFFFF"/>
                </a:solidFill>
              </a:rPr>
              <a:t>. It can be used to calculate the probability of a certain value’s distance from the mean via the z-score.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B159D7-3F9A-5C49-B0CF-E7444B3B457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7417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Postiive</a:t>
            </a:r>
            <a:r>
              <a:rPr lang="en-US" dirty="0"/>
              <a:t> or </a:t>
            </a:r>
            <a:r>
              <a:rPr lang="en-US" dirty="0" err="1"/>
              <a:t>righ</a:t>
            </a:r>
            <a:r>
              <a:rPr lang="en-US" dirty="0"/>
              <a:t> skewed data has a long tail to the right and negative or left skewed data has a long tail to the left. Note that in our skewed data we much different values that are less probably when compared to the </a:t>
            </a:r>
            <a:r>
              <a:rPr lang="en-US" dirty="0" err="1"/>
              <a:t>nomral</a:t>
            </a:r>
            <a:r>
              <a:rPr lang="en-US" dirty="0"/>
              <a:t> distribution. </a:t>
            </a:r>
            <a:r>
              <a:rPr lang="en-US" dirty="0" err="1"/>
              <a:t>Kurtosiss</a:t>
            </a:r>
            <a:r>
              <a:rPr lang="en-US" dirty="0"/>
              <a:t> is the measure of how the SD differs really, where slender distribution with long flat tails is called leptokurtic and a distribution that has short tails and a broad distribution is </a:t>
            </a:r>
            <a:r>
              <a:rPr lang="en-US" dirty="0" err="1"/>
              <a:t>lcalled</a:t>
            </a:r>
            <a:r>
              <a:rPr lang="en-US" dirty="0"/>
              <a:t> platykurtic.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B159D7-3F9A-5C49-B0CF-E7444B3B457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8985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use ln() natural log in r instead of log10 because it is standard practice, easier to back transform and easier to scale.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B159D7-3F9A-5C49-B0CF-E7444B3B457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320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Q-Q plots show you how much your data deviates from the normal distribution. If your data aligns perfectly with the normal distribution, the points will fall along the line.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Q-Q (quantile-quantile) plot compares your data’s distribution against a theoretical normal distribution. If your data is normal, the points fall along a straight diagonal line. Right-skewed data produces a curve that bows away from the line. Heavy-tailed data (more extreme values than expected) follows the line in the middle but curves off at both ends.</a:t>
            </a:r>
          </a:p>
          <a:p>
            <a:br>
              <a:rPr lang="en-US" dirty="0"/>
            </a:br>
            <a:r>
              <a:rPr lang="en-US" dirty="0"/>
              <a:t>- can also use a Shapiro-wilk test to test for normality.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B159D7-3F9A-5C49-B0CF-E7444B3B457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0271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42A01-F982-EF06-8A02-22BBF5E76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B30470-ECE9-798A-0182-9C768946B3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9C8D9E-2ABB-1058-16EA-3EB9AF1AC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CA2AD6-A7FF-2438-8C8C-D3A44AF7A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B159D7-3F9A-5C49-B0CF-E7444B3B457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309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F0D8010B-F27E-5D41-AB64-65E1DB7962E6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2548428C-9F71-054D-B56C-5642E39CEC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8287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8010B-F27E-5D41-AB64-65E1DB7962E6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8428C-9F71-054D-B56C-5642E39CEC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9671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8010B-F27E-5D41-AB64-65E1DB7962E6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8428C-9F71-054D-B56C-5642E39CEC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811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8010B-F27E-5D41-AB64-65E1DB7962E6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8428C-9F71-054D-B56C-5642E39CEC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606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8010B-F27E-5D41-AB64-65E1DB7962E6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8428C-9F71-054D-B56C-5642E39CEC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756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8010B-F27E-5D41-AB64-65E1DB7962E6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8428C-9F71-054D-B56C-5642E39CEC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4012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8010B-F27E-5D41-AB64-65E1DB7962E6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8428C-9F71-054D-B56C-5642E39CEC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154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8010B-F27E-5D41-AB64-65E1DB7962E6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8428C-9F71-054D-B56C-5642E39CEC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900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8010B-F27E-5D41-AB64-65E1DB7962E6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8428C-9F71-054D-B56C-5642E39CEC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6729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8010B-F27E-5D41-AB64-65E1DB7962E6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8428C-9F71-054D-B56C-5642E39CEC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875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8010B-F27E-5D41-AB64-65E1DB7962E6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8428C-9F71-054D-B56C-5642E39CEC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8271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8010B-F27E-5D41-AB64-65E1DB7962E6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8428C-9F71-054D-B56C-5642E39CEC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0368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8010B-F27E-5D41-AB64-65E1DB7962E6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8428C-9F71-054D-B56C-5642E39CEC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8655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8010B-F27E-5D41-AB64-65E1DB7962E6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8428C-9F71-054D-B56C-5642E39CEC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3243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8010B-F27E-5D41-AB64-65E1DB7962E6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8428C-9F71-054D-B56C-5642E39CEC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2910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F0D8010B-F27E-5D41-AB64-65E1DB7962E6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8428C-9F71-054D-B56C-5642E39CEC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96706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F0D8010B-F27E-5D41-AB64-65E1DB7962E6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8428C-9F71-054D-B56C-5642E39CEC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5247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F0D8010B-F27E-5D41-AB64-65E1DB7962E6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2548428C-9F71-054D-B56C-5642E39CEC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948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1.jpe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nc-nd/3.0/" TargetMode="External"/><Relationship Id="rId4" Type="http://schemas.openxmlformats.org/officeDocument/2006/relationships/hyperlink" Target="https://intensecrypto.org/public/lec_00_1_mathematical-background.html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/3.0/" TargetMode="External"/><Relationship Id="rId4" Type="http://schemas.openxmlformats.org/officeDocument/2006/relationships/hyperlink" Target="https://arc-team-open-research.blogspot.com/2014/07/geometric-classification-method-in-qgis.html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1.jpeg"/><Relationship Id="rId7" Type="http://schemas.openxmlformats.org/officeDocument/2006/relationships/diagramColors" Target="../diagrams/colors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data-analysis/log-normalization-for-outliers-convert-skewed-data-to-normal-distribution/" TargetMode="External"/><Relationship Id="rId2" Type="http://schemas.openxmlformats.org/officeDocument/2006/relationships/hyperlink" Target="https://scienceinsights.org/how-to-transform-non-normal-data-in-statistics/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youtube.com/watch?v=lE_HBLDnZF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EA711-A58A-8289-49F3-E4CBD1A08D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Dealing w/skewed data + linear model selection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3F5C30-6282-46F3-3945-0273A0343E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Laura Dagg </a:t>
            </a:r>
          </a:p>
          <a:p>
            <a:r>
              <a:rPr lang="en-US" dirty="0"/>
              <a:t>R seminar Fall 2026</a:t>
            </a:r>
          </a:p>
        </p:txBody>
      </p:sp>
    </p:spTree>
    <p:extLst>
      <p:ext uri="{BB962C8B-B14F-4D97-AF65-F5344CB8AC3E}">
        <p14:creationId xmlns:p14="http://schemas.microsoft.com/office/powerpoint/2010/main" val="2213844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F448CB3-7B4F-45D7-B7C0-DF553DF614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C5305EA-7A88-413D-BE8A-47A02476F0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3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FCA94DB5-FE56-4A3D-BC48-31B559519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F4FB286-3C87-8121-D924-F82308643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Today’s Objectives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ED434F-8767-46CC-B26B-5AF62FF01E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AEDE80F-2B89-9304-9D13-855CD65102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10295004"/>
              </p:ext>
            </p:extLst>
          </p:nvPr>
        </p:nvGraphicFramePr>
        <p:xfrm>
          <a:off x="1286934" y="2324100"/>
          <a:ext cx="9625383" cy="34226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34379859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643780CE-2BE5-46F6-97B2-60DF30217E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1A87A49-68E6-459E-A5A6-46229FF421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171964" y="-140866"/>
            <a:ext cx="6053670" cy="7139732"/>
          </a:xfrm>
          <a:custGeom>
            <a:avLst/>
            <a:gdLst>
              <a:gd name="connsiteX0" fmla="*/ 6053670 w 6053670"/>
              <a:gd name="connsiteY0" fmla="*/ 1098 h 7139732"/>
              <a:gd name="connsiteX1" fmla="*/ 6053670 w 6053670"/>
              <a:gd name="connsiteY1" fmla="*/ 1084479 h 7139732"/>
              <a:gd name="connsiteX2" fmla="*/ 6053670 w 6053670"/>
              <a:gd name="connsiteY2" fmla="*/ 1254558 h 7139732"/>
              <a:gd name="connsiteX3" fmla="*/ 6053670 w 6053670"/>
              <a:gd name="connsiteY3" fmla="*/ 7139732 h 7139732"/>
              <a:gd name="connsiteX4" fmla="*/ 0 w 6053670"/>
              <a:gd name="connsiteY4" fmla="*/ 7139732 h 7139732"/>
              <a:gd name="connsiteX5" fmla="*/ 0 w 6053670"/>
              <a:gd name="connsiteY5" fmla="*/ 1249853 h 7139732"/>
              <a:gd name="connsiteX6" fmla="*/ 0 w 6053670"/>
              <a:gd name="connsiteY6" fmla="*/ 1084479 h 7139732"/>
              <a:gd name="connsiteX7" fmla="*/ 0 w 6053670"/>
              <a:gd name="connsiteY7" fmla="*/ 0 h 7139732"/>
              <a:gd name="connsiteX8" fmla="*/ 35717 w 6053670"/>
              <a:gd name="connsiteY8" fmla="*/ 5488 h 7139732"/>
              <a:gd name="connsiteX9" fmla="*/ 140445 w 6053670"/>
              <a:gd name="connsiteY9" fmla="*/ 21641 h 7139732"/>
              <a:gd name="connsiteX10" fmla="*/ 216722 w 6053670"/>
              <a:gd name="connsiteY10" fmla="*/ 32932 h 7139732"/>
              <a:gd name="connsiteX11" fmla="*/ 307527 w 6053670"/>
              <a:gd name="connsiteY11" fmla="*/ 44850 h 7139732"/>
              <a:gd name="connsiteX12" fmla="*/ 415282 w 6053670"/>
              <a:gd name="connsiteY12" fmla="*/ 59121 h 7139732"/>
              <a:gd name="connsiteX13" fmla="*/ 534539 w 6053670"/>
              <a:gd name="connsiteY13" fmla="*/ 74175 h 7139732"/>
              <a:gd name="connsiteX14" fmla="*/ 668931 w 6053670"/>
              <a:gd name="connsiteY14" fmla="*/ 90014 h 7139732"/>
              <a:gd name="connsiteX15" fmla="*/ 815430 w 6053670"/>
              <a:gd name="connsiteY15" fmla="*/ 106794 h 7139732"/>
              <a:gd name="connsiteX16" fmla="*/ 974641 w 6053670"/>
              <a:gd name="connsiteY16" fmla="*/ 123574 h 7139732"/>
              <a:gd name="connsiteX17" fmla="*/ 1144144 w 6053670"/>
              <a:gd name="connsiteY17" fmla="*/ 140667 h 7139732"/>
              <a:gd name="connsiteX18" fmla="*/ 1326965 w 6053670"/>
              <a:gd name="connsiteY18" fmla="*/ 156506 h 7139732"/>
              <a:gd name="connsiteX19" fmla="*/ 1518261 w 6053670"/>
              <a:gd name="connsiteY19" fmla="*/ 171717 h 7139732"/>
              <a:gd name="connsiteX20" fmla="*/ 1720453 w 6053670"/>
              <a:gd name="connsiteY20" fmla="*/ 185518 h 7139732"/>
              <a:gd name="connsiteX21" fmla="*/ 1931121 w 6053670"/>
              <a:gd name="connsiteY21" fmla="*/ 198690 h 7139732"/>
              <a:gd name="connsiteX22" fmla="*/ 2150869 w 6053670"/>
              <a:gd name="connsiteY22" fmla="*/ 211079 h 7139732"/>
              <a:gd name="connsiteX23" fmla="*/ 2263467 w 6053670"/>
              <a:gd name="connsiteY23" fmla="*/ 215470 h 7139732"/>
              <a:gd name="connsiteX24" fmla="*/ 2378487 w 6053670"/>
              <a:gd name="connsiteY24" fmla="*/ 220332 h 7139732"/>
              <a:gd name="connsiteX25" fmla="*/ 2495323 w 6053670"/>
              <a:gd name="connsiteY25" fmla="*/ 224879 h 7139732"/>
              <a:gd name="connsiteX26" fmla="*/ 2612764 w 6053670"/>
              <a:gd name="connsiteY26" fmla="*/ 227859 h 7139732"/>
              <a:gd name="connsiteX27" fmla="*/ 2732627 w 6053670"/>
              <a:gd name="connsiteY27" fmla="*/ 230525 h 7139732"/>
              <a:gd name="connsiteX28" fmla="*/ 2853700 w 6053670"/>
              <a:gd name="connsiteY28" fmla="*/ 233348 h 7139732"/>
              <a:gd name="connsiteX29" fmla="*/ 2977195 w 6053670"/>
              <a:gd name="connsiteY29" fmla="*/ 235229 h 7139732"/>
              <a:gd name="connsiteX30" fmla="*/ 3101901 w 6053670"/>
              <a:gd name="connsiteY30" fmla="*/ 235229 h 7139732"/>
              <a:gd name="connsiteX31" fmla="*/ 3227817 w 6053670"/>
              <a:gd name="connsiteY31" fmla="*/ 236170 h 7139732"/>
              <a:gd name="connsiteX32" fmla="*/ 3354944 w 6053670"/>
              <a:gd name="connsiteY32" fmla="*/ 235229 h 7139732"/>
              <a:gd name="connsiteX33" fmla="*/ 3483887 w 6053670"/>
              <a:gd name="connsiteY33" fmla="*/ 233348 h 7139732"/>
              <a:gd name="connsiteX34" fmla="*/ 3612830 w 6053670"/>
              <a:gd name="connsiteY34" fmla="*/ 231623 h 7139732"/>
              <a:gd name="connsiteX35" fmla="*/ 3743590 w 6053670"/>
              <a:gd name="connsiteY35" fmla="*/ 227859 h 7139732"/>
              <a:gd name="connsiteX36" fmla="*/ 3875560 w 6053670"/>
              <a:gd name="connsiteY36" fmla="*/ 223938 h 7139732"/>
              <a:gd name="connsiteX37" fmla="*/ 4007530 w 6053670"/>
              <a:gd name="connsiteY37" fmla="*/ 219391 h 7139732"/>
              <a:gd name="connsiteX38" fmla="*/ 4140710 w 6053670"/>
              <a:gd name="connsiteY38" fmla="*/ 212961 h 7139732"/>
              <a:gd name="connsiteX39" fmla="*/ 4275102 w 6053670"/>
              <a:gd name="connsiteY39" fmla="*/ 205277 h 7139732"/>
              <a:gd name="connsiteX40" fmla="*/ 4410098 w 6053670"/>
              <a:gd name="connsiteY40" fmla="*/ 197907 h 7139732"/>
              <a:gd name="connsiteX41" fmla="*/ 4545096 w 6053670"/>
              <a:gd name="connsiteY41" fmla="*/ 188498 h 7139732"/>
              <a:gd name="connsiteX42" fmla="*/ 4681909 w 6053670"/>
              <a:gd name="connsiteY42" fmla="*/ 177207 h 7139732"/>
              <a:gd name="connsiteX43" fmla="*/ 4816905 w 6053670"/>
              <a:gd name="connsiteY43" fmla="*/ 165916 h 7139732"/>
              <a:gd name="connsiteX44" fmla="*/ 4954323 w 6053670"/>
              <a:gd name="connsiteY44" fmla="*/ 152899 h 7139732"/>
              <a:gd name="connsiteX45" fmla="*/ 5092347 w 6053670"/>
              <a:gd name="connsiteY45" fmla="*/ 138629 h 7139732"/>
              <a:gd name="connsiteX46" fmla="*/ 5228555 w 6053670"/>
              <a:gd name="connsiteY46" fmla="*/ 123574 h 7139732"/>
              <a:gd name="connsiteX47" fmla="*/ 5366578 w 6053670"/>
              <a:gd name="connsiteY47" fmla="*/ 106010 h 7139732"/>
              <a:gd name="connsiteX48" fmla="*/ 5503997 w 6053670"/>
              <a:gd name="connsiteY48" fmla="*/ 87192 h 7139732"/>
              <a:gd name="connsiteX49" fmla="*/ 5642020 w 6053670"/>
              <a:gd name="connsiteY49" fmla="*/ 68530 h 7139732"/>
              <a:gd name="connsiteX50" fmla="*/ 5779438 w 6053670"/>
              <a:gd name="connsiteY50" fmla="*/ 46733 h 7139732"/>
              <a:gd name="connsiteX51" fmla="*/ 5916251 w 6053670"/>
              <a:gd name="connsiteY51" fmla="*/ 24464 h 7139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7139732">
                <a:moveTo>
                  <a:pt x="6053670" y="1098"/>
                </a:moveTo>
                <a:lnTo>
                  <a:pt x="6053670" y="1084479"/>
                </a:lnTo>
                <a:lnTo>
                  <a:pt x="6053670" y="1254558"/>
                </a:lnTo>
                <a:lnTo>
                  <a:pt x="6053670" y="7139732"/>
                </a:lnTo>
                <a:lnTo>
                  <a:pt x="0" y="7139732"/>
                </a:lnTo>
                <a:lnTo>
                  <a:pt x="0" y="1249853"/>
                </a:lnTo>
                <a:lnTo>
                  <a:pt x="0" y="1084479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1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90" y="227859"/>
                </a:lnTo>
                <a:lnTo>
                  <a:pt x="3875560" y="223938"/>
                </a:lnTo>
                <a:lnTo>
                  <a:pt x="4007530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Freeform 5">
            <a:extLst>
              <a:ext uri="{FF2B5EF4-FFF2-40B4-BE49-F238E27FC236}">
                <a16:creationId xmlns:a16="http://schemas.microsoft.com/office/drawing/2014/main" id="{F6ACD5FC-CAFE-48EB-B765-60EED2E052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88A2B9-3E4C-F621-C3DA-82D830240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5" y="973668"/>
            <a:ext cx="2942210" cy="102023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300" b="0" i="0" kern="120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Normal Distribution – the Bell Curve</a:t>
            </a:r>
          </a:p>
        </p:txBody>
      </p:sp>
      <p:pic>
        <p:nvPicPr>
          <p:cNvPr id="8" name="Picture 7" descr="An intensive introduction to cryptography: Mathematical Background">
            <a:extLst>
              <a:ext uri="{FF2B5EF4-FFF2-40B4-BE49-F238E27FC236}">
                <a16:creationId xmlns:a16="http://schemas.microsoft.com/office/drawing/2014/main" id="{E839C356-A2AC-2C25-C02F-2C8F503701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5194607" y="1131832"/>
            <a:ext cx="6391533" cy="4594336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9F33B405-D785-4738-B1C0-6A0AA5E982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4233DC0E-DE6C-4FB6-A529-51B162641A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11000"/>
                </a:schemeClr>
              </a:gs>
              <a:gs pos="75000">
                <a:schemeClr val="accent5">
                  <a:alpha val="0"/>
                </a:schemeClr>
              </a:gs>
              <a:gs pos="36000">
                <a:schemeClr val="accent5"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870477F-E451-4BC3-863F-0E2FC5728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8000"/>
                </a:schemeClr>
              </a:gs>
              <a:gs pos="72000">
                <a:schemeClr val="accent5">
                  <a:alpha val="0"/>
                </a:schemeClr>
              </a:gs>
              <a:gs pos="36000">
                <a:schemeClr val="accent5"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F16FD2-0EBC-7CA5-ABA1-D49228681F17}"/>
              </a:ext>
            </a:extLst>
          </p:cNvPr>
          <p:cNvSpPr txBox="1"/>
          <p:nvPr/>
        </p:nvSpPr>
        <p:spPr>
          <a:xfrm>
            <a:off x="1154955" y="2120900"/>
            <a:ext cx="3133726" cy="3898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dirty="0">
                <a:solidFill>
                  <a:srgbClr val="FFFFFF"/>
                </a:solidFill>
              </a:rPr>
              <a:t>The normal/gaussian distribution is a continuous probability distribution with a symmetric bell-shaped curve.</a:t>
            </a:r>
          </a:p>
          <a:p>
            <a:pPr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dirty="0">
                <a:solidFill>
                  <a:srgbClr val="FFFFFF"/>
                </a:solidFill>
              </a:rPr>
              <a:t> Note that the area under the curve represents the probability of an observed value. Total area = 1 (100%)</a:t>
            </a:r>
          </a:p>
          <a:p>
            <a:pPr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dirty="0">
                <a:solidFill>
                  <a:srgbClr val="FFFFFF"/>
                </a:solidFill>
              </a:rPr>
              <a:t>Note the SD</a:t>
            </a:r>
          </a:p>
        </p:txBody>
      </p:sp>
      <p:sp>
        <p:nvSpPr>
          <p:cNvPr id="26" name="Freeform 5">
            <a:extLst>
              <a:ext uri="{FF2B5EF4-FFF2-40B4-BE49-F238E27FC236}">
                <a16:creationId xmlns:a16="http://schemas.microsoft.com/office/drawing/2014/main" id="{B4A81DE1-E2BC-4A31-99EE-71350421B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3140485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281422-D404-1F70-1589-C30DDF06CB83}"/>
              </a:ext>
            </a:extLst>
          </p:cNvPr>
          <p:cNvSpPr txBox="1"/>
          <p:nvPr/>
        </p:nvSpPr>
        <p:spPr>
          <a:xfrm>
            <a:off x="8713239" y="5526113"/>
            <a:ext cx="2872901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US" sz="700">
                <a:solidFill>
                  <a:srgbClr val="FFFFFF"/>
                </a:solidFill>
                <a:hlinkClick r:id="rId4" tooltip="https://intensecrypto.org/public/lec_00_1_mathematical-background.htm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US" sz="700">
                <a:solidFill>
                  <a:srgbClr val="FFFFFF"/>
                </a:solidFill>
              </a:rPr>
              <a:t> by Unknown Author is licensed under </a:t>
            </a:r>
            <a:r>
              <a:rPr lang="en-US" sz="700">
                <a:solidFill>
                  <a:srgbClr val="FFFFFF"/>
                </a:solidFill>
                <a:hlinkClick r:id="rId5" tooltip="https://creativecommons.org/licenses/by-nc-nd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BY-NC-ND</a:t>
            </a:r>
            <a:endParaRPr lang="en-US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14095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E5720-C95D-0FD5-D1AE-F86DFEDA1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EBEBEB"/>
                </a:solidFill>
              </a:rPr>
              <a:t>Non-normal Distribution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EDF4AEC-E7C3-BC0A-7A4D-C2FC76CC54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1478" y="2898182"/>
            <a:ext cx="2882685" cy="3455907"/>
          </a:xfrm>
        </p:spPr>
        <p:txBody>
          <a:bodyPr anchor="ctr">
            <a:normAutofit/>
          </a:bodyPr>
          <a:lstStyle/>
          <a:p>
            <a:r>
              <a:rPr lang="en-US" sz="1600" dirty="0"/>
              <a:t>Skew- measure of the balance of the tails</a:t>
            </a:r>
          </a:p>
          <a:p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r>
              <a:rPr lang="en-US" sz="1600" dirty="0"/>
              <a:t>Kurtosis – measure of the slenderness/broadness of the distribution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8F990E-2FF7-C22B-2C3B-C8472AD7F1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21" t="5474" r="5429"/>
          <a:stretch>
            <a:fillRect/>
          </a:stretch>
        </p:blipFill>
        <p:spPr>
          <a:xfrm>
            <a:off x="3390757" y="2758699"/>
            <a:ext cx="8599765" cy="3750590"/>
          </a:xfrm>
          <a:prstGeom prst="roundRect">
            <a:avLst>
              <a:gd name="adj" fmla="val 1858"/>
            </a:avLst>
          </a:prstGeom>
          <a:ln>
            <a:solidFill>
              <a:schemeClr val="accent1"/>
            </a:solidFill>
          </a:ln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048742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FE0C7-1109-93E3-F7A2-B4B934943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9182415" cy="706964"/>
          </a:xfrm>
        </p:spPr>
        <p:txBody>
          <a:bodyPr/>
          <a:lstStyle/>
          <a:p>
            <a:r>
              <a:rPr lang="en-US" dirty="0"/>
              <a:t>Exponents vs ln() for data normalization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9CFBE-B938-8F76-7487-FD55DD4FD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4654175" cy="1887818"/>
          </a:xfrm>
        </p:spPr>
        <p:txBody>
          <a:bodyPr/>
          <a:lstStyle/>
          <a:p>
            <a:r>
              <a:rPr lang="en-US" dirty="0"/>
              <a:t>Exponents: To make data more normal, can apply a function to the dataset ( an exponent per say) to normalize the data. But which exponent (</a:t>
            </a:r>
            <a:r>
              <a:rPr lang="en-US" dirty="0" err="1"/>
              <a:t>ƛ</a:t>
            </a:r>
            <a:r>
              <a:rPr lang="en-US" dirty="0"/>
              <a:t>) should you use for your dataset?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886CB7-ABBF-8D80-486E-DC2B6C6EA3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954" y="4491318"/>
            <a:ext cx="4025900" cy="2133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14A0E15-C6FC-D6A1-FE3C-ACF372750406}"/>
              </a:ext>
            </a:extLst>
          </p:cNvPr>
          <p:cNvSpPr txBox="1"/>
          <p:nvPr/>
        </p:nvSpPr>
        <p:spPr>
          <a:xfrm>
            <a:off x="6629400" y="2463800"/>
            <a:ext cx="42418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Natural Log: To make data more normal, you can apply the natural log function to your dataset, but when?</a:t>
            </a:r>
          </a:p>
          <a:p>
            <a:pPr marL="285750" indent="-285750">
              <a:buFontTx/>
              <a:buChar char="-"/>
            </a:pPr>
            <a:r>
              <a:rPr lang="en-US" dirty="0"/>
              <a:t>Applying the log10 function to a number or a numeric </a:t>
            </a:r>
            <a:r>
              <a:rPr lang="en-US" dirty="0" err="1"/>
              <a:t>df</a:t>
            </a:r>
            <a:r>
              <a:rPr lang="en-US" dirty="0"/>
              <a:t> will yield an output that is the exponent to which 10 must be raised to obtain x. </a:t>
            </a:r>
          </a:p>
          <a:p>
            <a:pPr marL="285750" indent="-285750">
              <a:buFontTx/>
              <a:buChar char="-"/>
            </a:pPr>
            <a:r>
              <a:rPr lang="en-US" dirty="0"/>
              <a:t>Can only take the log of positive numbers.</a:t>
            </a:r>
          </a:p>
          <a:p>
            <a:endParaRPr lang="en-US" dirty="0"/>
          </a:p>
          <a:p>
            <a:r>
              <a:rPr lang="en-US" dirty="0"/>
              <a:t>X= log10(xi)</a:t>
            </a:r>
          </a:p>
          <a:p>
            <a:r>
              <a:rPr lang="en-US" dirty="0"/>
              <a:t>2 = log10(100)</a:t>
            </a:r>
          </a:p>
        </p:txBody>
      </p:sp>
    </p:spTree>
    <p:extLst>
      <p:ext uri="{BB962C8B-B14F-4D97-AF65-F5344CB8AC3E}">
        <p14:creationId xmlns:p14="http://schemas.microsoft.com/office/powerpoint/2010/main" val="1287033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3CAA01-5D3B-3789-7A96-F698491DE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643780CE-2BE5-46F6-97B2-60DF30217E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1A87A49-68E6-459E-A5A6-46229FF421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171964" y="-140866"/>
            <a:ext cx="6053670" cy="7139732"/>
          </a:xfrm>
          <a:custGeom>
            <a:avLst/>
            <a:gdLst>
              <a:gd name="connsiteX0" fmla="*/ 6053670 w 6053670"/>
              <a:gd name="connsiteY0" fmla="*/ 1098 h 7139732"/>
              <a:gd name="connsiteX1" fmla="*/ 6053670 w 6053670"/>
              <a:gd name="connsiteY1" fmla="*/ 1084479 h 7139732"/>
              <a:gd name="connsiteX2" fmla="*/ 6053670 w 6053670"/>
              <a:gd name="connsiteY2" fmla="*/ 1254558 h 7139732"/>
              <a:gd name="connsiteX3" fmla="*/ 6053670 w 6053670"/>
              <a:gd name="connsiteY3" fmla="*/ 7139732 h 7139732"/>
              <a:gd name="connsiteX4" fmla="*/ 0 w 6053670"/>
              <a:gd name="connsiteY4" fmla="*/ 7139732 h 7139732"/>
              <a:gd name="connsiteX5" fmla="*/ 0 w 6053670"/>
              <a:gd name="connsiteY5" fmla="*/ 1249853 h 7139732"/>
              <a:gd name="connsiteX6" fmla="*/ 0 w 6053670"/>
              <a:gd name="connsiteY6" fmla="*/ 1084479 h 7139732"/>
              <a:gd name="connsiteX7" fmla="*/ 0 w 6053670"/>
              <a:gd name="connsiteY7" fmla="*/ 0 h 7139732"/>
              <a:gd name="connsiteX8" fmla="*/ 35717 w 6053670"/>
              <a:gd name="connsiteY8" fmla="*/ 5488 h 7139732"/>
              <a:gd name="connsiteX9" fmla="*/ 140445 w 6053670"/>
              <a:gd name="connsiteY9" fmla="*/ 21641 h 7139732"/>
              <a:gd name="connsiteX10" fmla="*/ 216722 w 6053670"/>
              <a:gd name="connsiteY10" fmla="*/ 32932 h 7139732"/>
              <a:gd name="connsiteX11" fmla="*/ 307527 w 6053670"/>
              <a:gd name="connsiteY11" fmla="*/ 44850 h 7139732"/>
              <a:gd name="connsiteX12" fmla="*/ 415282 w 6053670"/>
              <a:gd name="connsiteY12" fmla="*/ 59121 h 7139732"/>
              <a:gd name="connsiteX13" fmla="*/ 534539 w 6053670"/>
              <a:gd name="connsiteY13" fmla="*/ 74175 h 7139732"/>
              <a:gd name="connsiteX14" fmla="*/ 668931 w 6053670"/>
              <a:gd name="connsiteY14" fmla="*/ 90014 h 7139732"/>
              <a:gd name="connsiteX15" fmla="*/ 815430 w 6053670"/>
              <a:gd name="connsiteY15" fmla="*/ 106794 h 7139732"/>
              <a:gd name="connsiteX16" fmla="*/ 974641 w 6053670"/>
              <a:gd name="connsiteY16" fmla="*/ 123574 h 7139732"/>
              <a:gd name="connsiteX17" fmla="*/ 1144144 w 6053670"/>
              <a:gd name="connsiteY17" fmla="*/ 140667 h 7139732"/>
              <a:gd name="connsiteX18" fmla="*/ 1326965 w 6053670"/>
              <a:gd name="connsiteY18" fmla="*/ 156506 h 7139732"/>
              <a:gd name="connsiteX19" fmla="*/ 1518261 w 6053670"/>
              <a:gd name="connsiteY19" fmla="*/ 171717 h 7139732"/>
              <a:gd name="connsiteX20" fmla="*/ 1720453 w 6053670"/>
              <a:gd name="connsiteY20" fmla="*/ 185518 h 7139732"/>
              <a:gd name="connsiteX21" fmla="*/ 1931121 w 6053670"/>
              <a:gd name="connsiteY21" fmla="*/ 198690 h 7139732"/>
              <a:gd name="connsiteX22" fmla="*/ 2150869 w 6053670"/>
              <a:gd name="connsiteY22" fmla="*/ 211079 h 7139732"/>
              <a:gd name="connsiteX23" fmla="*/ 2263467 w 6053670"/>
              <a:gd name="connsiteY23" fmla="*/ 215470 h 7139732"/>
              <a:gd name="connsiteX24" fmla="*/ 2378487 w 6053670"/>
              <a:gd name="connsiteY24" fmla="*/ 220332 h 7139732"/>
              <a:gd name="connsiteX25" fmla="*/ 2495323 w 6053670"/>
              <a:gd name="connsiteY25" fmla="*/ 224879 h 7139732"/>
              <a:gd name="connsiteX26" fmla="*/ 2612764 w 6053670"/>
              <a:gd name="connsiteY26" fmla="*/ 227859 h 7139732"/>
              <a:gd name="connsiteX27" fmla="*/ 2732627 w 6053670"/>
              <a:gd name="connsiteY27" fmla="*/ 230525 h 7139732"/>
              <a:gd name="connsiteX28" fmla="*/ 2853700 w 6053670"/>
              <a:gd name="connsiteY28" fmla="*/ 233348 h 7139732"/>
              <a:gd name="connsiteX29" fmla="*/ 2977195 w 6053670"/>
              <a:gd name="connsiteY29" fmla="*/ 235229 h 7139732"/>
              <a:gd name="connsiteX30" fmla="*/ 3101901 w 6053670"/>
              <a:gd name="connsiteY30" fmla="*/ 235229 h 7139732"/>
              <a:gd name="connsiteX31" fmla="*/ 3227817 w 6053670"/>
              <a:gd name="connsiteY31" fmla="*/ 236170 h 7139732"/>
              <a:gd name="connsiteX32" fmla="*/ 3354944 w 6053670"/>
              <a:gd name="connsiteY32" fmla="*/ 235229 h 7139732"/>
              <a:gd name="connsiteX33" fmla="*/ 3483887 w 6053670"/>
              <a:gd name="connsiteY33" fmla="*/ 233348 h 7139732"/>
              <a:gd name="connsiteX34" fmla="*/ 3612830 w 6053670"/>
              <a:gd name="connsiteY34" fmla="*/ 231623 h 7139732"/>
              <a:gd name="connsiteX35" fmla="*/ 3743590 w 6053670"/>
              <a:gd name="connsiteY35" fmla="*/ 227859 h 7139732"/>
              <a:gd name="connsiteX36" fmla="*/ 3875560 w 6053670"/>
              <a:gd name="connsiteY36" fmla="*/ 223938 h 7139732"/>
              <a:gd name="connsiteX37" fmla="*/ 4007530 w 6053670"/>
              <a:gd name="connsiteY37" fmla="*/ 219391 h 7139732"/>
              <a:gd name="connsiteX38" fmla="*/ 4140710 w 6053670"/>
              <a:gd name="connsiteY38" fmla="*/ 212961 h 7139732"/>
              <a:gd name="connsiteX39" fmla="*/ 4275102 w 6053670"/>
              <a:gd name="connsiteY39" fmla="*/ 205277 h 7139732"/>
              <a:gd name="connsiteX40" fmla="*/ 4410098 w 6053670"/>
              <a:gd name="connsiteY40" fmla="*/ 197907 h 7139732"/>
              <a:gd name="connsiteX41" fmla="*/ 4545096 w 6053670"/>
              <a:gd name="connsiteY41" fmla="*/ 188498 h 7139732"/>
              <a:gd name="connsiteX42" fmla="*/ 4681909 w 6053670"/>
              <a:gd name="connsiteY42" fmla="*/ 177207 h 7139732"/>
              <a:gd name="connsiteX43" fmla="*/ 4816905 w 6053670"/>
              <a:gd name="connsiteY43" fmla="*/ 165916 h 7139732"/>
              <a:gd name="connsiteX44" fmla="*/ 4954323 w 6053670"/>
              <a:gd name="connsiteY44" fmla="*/ 152899 h 7139732"/>
              <a:gd name="connsiteX45" fmla="*/ 5092347 w 6053670"/>
              <a:gd name="connsiteY45" fmla="*/ 138629 h 7139732"/>
              <a:gd name="connsiteX46" fmla="*/ 5228555 w 6053670"/>
              <a:gd name="connsiteY46" fmla="*/ 123574 h 7139732"/>
              <a:gd name="connsiteX47" fmla="*/ 5366578 w 6053670"/>
              <a:gd name="connsiteY47" fmla="*/ 106010 h 7139732"/>
              <a:gd name="connsiteX48" fmla="*/ 5503997 w 6053670"/>
              <a:gd name="connsiteY48" fmla="*/ 87192 h 7139732"/>
              <a:gd name="connsiteX49" fmla="*/ 5642020 w 6053670"/>
              <a:gd name="connsiteY49" fmla="*/ 68530 h 7139732"/>
              <a:gd name="connsiteX50" fmla="*/ 5779438 w 6053670"/>
              <a:gd name="connsiteY50" fmla="*/ 46733 h 7139732"/>
              <a:gd name="connsiteX51" fmla="*/ 5916251 w 6053670"/>
              <a:gd name="connsiteY51" fmla="*/ 24464 h 7139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7139732">
                <a:moveTo>
                  <a:pt x="6053670" y="1098"/>
                </a:moveTo>
                <a:lnTo>
                  <a:pt x="6053670" y="1084479"/>
                </a:lnTo>
                <a:lnTo>
                  <a:pt x="6053670" y="1254558"/>
                </a:lnTo>
                <a:lnTo>
                  <a:pt x="6053670" y="7139732"/>
                </a:lnTo>
                <a:lnTo>
                  <a:pt x="0" y="7139732"/>
                </a:lnTo>
                <a:lnTo>
                  <a:pt x="0" y="1249853"/>
                </a:lnTo>
                <a:lnTo>
                  <a:pt x="0" y="1084479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1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90" y="227859"/>
                </a:lnTo>
                <a:lnTo>
                  <a:pt x="3875560" y="223938"/>
                </a:lnTo>
                <a:lnTo>
                  <a:pt x="4007530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8" name="Freeform 5">
            <a:extLst>
              <a:ext uri="{FF2B5EF4-FFF2-40B4-BE49-F238E27FC236}">
                <a16:creationId xmlns:a16="http://schemas.microsoft.com/office/drawing/2014/main" id="{F6ACD5FC-CAFE-48EB-B765-60EED2E052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61DE6-BFFD-BB53-5422-658AAF27B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5" y="973668"/>
            <a:ext cx="2942210" cy="10202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0" i="0" kern="120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Natural Log</a:t>
            </a:r>
          </a:p>
        </p:txBody>
      </p:sp>
      <p:pic>
        <p:nvPicPr>
          <p:cNvPr id="18" name="Picture 17" descr="ATOR: Geometric Classification Method in QGIS">
            <a:extLst>
              <a:ext uri="{FF2B5EF4-FFF2-40B4-BE49-F238E27FC236}">
                <a16:creationId xmlns:a16="http://schemas.microsoft.com/office/drawing/2014/main" id="{7030E039-183D-1517-CFF7-6820813767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5194607" y="1311805"/>
            <a:ext cx="6391533" cy="4234390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9F33B405-D785-4738-B1C0-6A0AA5E982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233DC0E-DE6C-4FB6-A529-51B162641A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11000"/>
                </a:schemeClr>
              </a:gs>
              <a:gs pos="75000">
                <a:schemeClr val="accent5">
                  <a:alpha val="0"/>
                </a:schemeClr>
              </a:gs>
              <a:gs pos="36000">
                <a:schemeClr val="accent5"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3870477F-E451-4BC3-863F-0E2FC5728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8000"/>
                </a:schemeClr>
              </a:gs>
              <a:gs pos="72000">
                <a:schemeClr val="accent5">
                  <a:alpha val="0"/>
                </a:schemeClr>
              </a:gs>
              <a:gs pos="36000">
                <a:schemeClr val="accent5"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93B869-C0A3-9383-4CC8-B1E2788133F2}"/>
              </a:ext>
            </a:extLst>
          </p:cNvPr>
          <p:cNvSpPr txBox="1"/>
          <p:nvPr/>
        </p:nvSpPr>
        <p:spPr>
          <a:xfrm>
            <a:off x="1154955" y="2120900"/>
            <a:ext cx="3133726" cy="3898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85750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sz="1300">
                <a:solidFill>
                  <a:srgbClr val="FFFFFF"/>
                </a:solidFill>
              </a:rPr>
              <a:t>When applying a natural log you convert skewed data to a more normal distribution by proportionally scaling down large values more than small values, resulting in a shorter right tail.</a:t>
            </a:r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endParaRPr lang="en-US" sz="1300">
              <a:solidFill>
                <a:srgbClr val="FFFFFF"/>
              </a:solidFill>
            </a:endParaRPr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sz="1300">
                <a:solidFill>
                  <a:srgbClr val="FFFFFF"/>
                </a:solidFill>
              </a:rPr>
              <a:t>So this works best for POSTIVE and RIGHT-SKEWED DATA where we see that most values cluster at the lower end and a few unusually large values extend the tail to the right. </a:t>
            </a:r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sz="1300">
                <a:solidFill>
                  <a:srgbClr val="FFFFFF"/>
                </a:solidFill>
              </a:rPr>
              <a:t>Log normalization does NOT work for left-skewed data because it can distort small or negative values. </a:t>
            </a:r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endParaRPr lang="en-US" sz="1300">
              <a:solidFill>
                <a:srgbClr val="FFFFFF"/>
              </a:solidFill>
            </a:endParaRPr>
          </a:p>
        </p:txBody>
      </p:sp>
      <p:sp>
        <p:nvSpPr>
          <p:cNvPr id="36" name="Freeform 5">
            <a:extLst>
              <a:ext uri="{FF2B5EF4-FFF2-40B4-BE49-F238E27FC236}">
                <a16:creationId xmlns:a16="http://schemas.microsoft.com/office/drawing/2014/main" id="{B4A81DE1-E2BC-4A31-99EE-71350421B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3140485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BDED90C-DC43-2152-DFB5-9D82049F4C4E}"/>
              </a:ext>
            </a:extLst>
          </p:cNvPr>
          <p:cNvSpPr txBox="1"/>
          <p:nvPr/>
        </p:nvSpPr>
        <p:spPr>
          <a:xfrm>
            <a:off x="9046663" y="5346140"/>
            <a:ext cx="2539477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US" sz="700">
                <a:solidFill>
                  <a:srgbClr val="FFFFFF"/>
                </a:solidFill>
                <a:hlinkClick r:id="rId4" tooltip="https://arc-team-open-research.blogspot.com/2014/07/geometric-classification-method-in-qgis.htm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US" sz="700">
                <a:solidFill>
                  <a:srgbClr val="FFFFFF"/>
                </a:solidFill>
              </a:rPr>
              <a:t> by Unknown Author is licensed under </a:t>
            </a:r>
            <a:r>
              <a:rPr lang="en-US" sz="700">
                <a:solidFill>
                  <a:srgbClr val="FFFFFF"/>
                </a:solidFill>
                <a:hlinkClick r:id="rId5" tooltip="https://creativecommons.org/licenses/by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</a:t>
            </a:r>
            <a:endParaRPr lang="en-US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112713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B8C8E-A2AA-438A-EF78-9C11C6124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F039F-A126-5D95-1779-E581FABE1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Exponents – Which one?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F3C1B6-1F92-957C-9C71-47E44543B812}"/>
              </a:ext>
            </a:extLst>
          </p:cNvPr>
          <p:cNvSpPr txBox="1"/>
          <p:nvPr/>
        </p:nvSpPr>
        <p:spPr>
          <a:xfrm>
            <a:off x="393700" y="2300070"/>
            <a:ext cx="2743201" cy="1200329"/>
          </a:xfrm>
          <a:prstGeom prst="rect">
            <a:avLst/>
          </a:prstGeom>
          <a:noFill/>
          <a:ln w="158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1) Plot a histogram and quantile-quantile plot of your dataset. (or skew coefficient)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135F1E-D60E-7B25-F674-D11FF114427E}"/>
              </a:ext>
            </a:extLst>
          </p:cNvPr>
          <p:cNvSpPr txBox="1"/>
          <p:nvPr/>
        </p:nvSpPr>
        <p:spPr>
          <a:xfrm>
            <a:off x="3505199" y="2300070"/>
            <a:ext cx="2374897" cy="646331"/>
          </a:xfrm>
          <a:prstGeom prst="rect">
            <a:avLst/>
          </a:prstGeom>
          <a:noFill/>
          <a:ln w="158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2) Pick an exponent and try it.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7DDAB7-7812-BDED-CF03-1361A2E6BE42}"/>
              </a:ext>
            </a:extLst>
          </p:cNvPr>
          <p:cNvSpPr txBox="1"/>
          <p:nvPr/>
        </p:nvSpPr>
        <p:spPr>
          <a:xfrm>
            <a:off x="6324601" y="2311400"/>
            <a:ext cx="2743200" cy="1200329"/>
          </a:xfrm>
          <a:prstGeom prst="rect">
            <a:avLst/>
          </a:prstGeom>
          <a:noFill/>
          <a:ln w="158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3) Plot your transformed data and compare. (or skew coefficient)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43243371-3588-3DCE-8FD5-F77806C3B0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915"/>
          <a:stretch>
            <a:fillRect/>
          </a:stretch>
        </p:blipFill>
        <p:spPr>
          <a:xfrm>
            <a:off x="0" y="4879662"/>
            <a:ext cx="3213100" cy="20093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8D3A07E-A3FD-12FC-C99A-6AF923C051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4484697"/>
            <a:ext cx="1968500" cy="5588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1C6CC6B-02F7-17B2-B40B-C6EEED5468BF}"/>
              </a:ext>
            </a:extLst>
          </p:cNvPr>
          <p:cNvSpPr txBox="1"/>
          <p:nvPr/>
        </p:nvSpPr>
        <p:spPr>
          <a:xfrm>
            <a:off x="9588502" y="2311400"/>
            <a:ext cx="2374898" cy="2862322"/>
          </a:xfrm>
          <a:prstGeom prst="rect">
            <a:avLst/>
          </a:prstGeom>
          <a:noFill/>
          <a:ln w="158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4) Did that reduce the skew of your data?</a:t>
            </a:r>
          </a:p>
          <a:p>
            <a:endParaRPr lang="en-US" dirty="0"/>
          </a:p>
          <a:p>
            <a:r>
              <a:rPr lang="en-US" dirty="0"/>
              <a:t>YES – Well, could applying a different exponent normalize better? Try another!</a:t>
            </a:r>
          </a:p>
          <a:p>
            <a:r>
              <a:rPr lang="en-US" dirty="0"/>
              <a:t>NO -  try another!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3B5D3274-3C5E-AE4B-E9AA-9B29D1D308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3578660"/>
            <a:ext cx="2882900" cy="8509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78E6E614-F093-DF83-4342-2C3709206B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9950" y="3859325"/>
            <a:ext cx="2882900" cy="40640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3DE104D7-1B25-56D4-EC6D-D9817C33AB8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52696" r="6699" b="17850"/>
          <a:stretch>
            <a:fillRect/>
          </a:stretch>
        </p:blipFill>
        <p:spPr>
          <a:xfrm>
            <a:off x="5911852" y="4574947"/>
            <a:ext cx="3464623" cy="2361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612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D1DE3271-DD99-4DEF-AF9F-84397884C8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06A31CE-F9B6-4BA2-8685-60F3524D07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950898" y="638067"/>
            <a:ext cx="6053670" cy="5581866"/>
          </a:xfrm>
          <a:custGeom>
            <a:avLst/>
            <a:gdLst>
              <a:gd name="connsiteX0" fmla="*/ 6053670 w 6053670"/>
              <a:gd name="connsiteY0" fmla="*/ 1098 h 5581866"/>
              <a:gd name="connsiteX1" fmla="*/ 6053670 w 6053670"/>
              <a:gd name="connsiteY1" fmla="*/ 514028 h 5581866"/>
              <a:gd name="connsiteX2" fmla="*/ 6053670 w 6053670"/>
              <a:gd name="connsiteY2" fmla="*/ 1254558 h 5581866"/>
              <a:gd name="connsiteX3" fmla="*/ 6053670 w 6053670"/>
              <a:gd name="connsiteY3" fmla="*/ 5581866 h 5581866"/>
              <a:gd name="connsiteX4" fmla="*/ 0 w 6053670"/>
              <a:gd name="connsiteY4" fmla="*/ 5581866 h 5581866"/>
              <a:gd name="connsiteX5" fmla="*/ 0 w 6053670"/>
              <a:gd name="connsiteY5" fmla="*/ 1249853 h 5581866"/>
              <a:gd name="connsiteX6" fmla="*/ 0 w 6053670"/>
              <a:gd name="connsiteY6" fmla="*/ 514028 h 5581866"/>
              <a:gd name="connsiteX7" fmla="*/ 0 w 6053670"/>
              <a:gd name="connsiteY7" fmla="*/ 0 h 5581866"/>
              <a:gd name="connsiteX8" fmla="*/ 35717 w 6053670"/>
              <a:gd name="connsiteY8" fmla="*/ 5488 h 5581866"/>
              <a:gd name="connsiteX9" fmla="*/ 140445 w 6053670"/>
              <a:gd name="connsiteY9" fmla="*/ 21641 h 5581866"/>
              <a:gd name="connsiteX10" fmla="*/ 216722 w 6053670"/>
              <a:gd name="connsiteY10" fmla="*/ 32932 h 5581866"/>
              <a:gd name="connsiteX11" fmla="*/ 307527 w 6053670"/>
              <a:gd name="connsiteY11" fmla="*/ 44850 h 5581866"/>
              <a:gd name="connsiteX12" fmla="*/ 415282 w 6053670"/>
              <a:gd name="connsiteY12" fmla="*/ 59121 h 5581866"/>
              <a:gd name="connsiteX13" fmla="*/ 534539 w 6053670"/>
              <a:gd name="connsiteY13" fmla="*/ 74175 h 5581866"/>
              <a:gd name="connsiteX14" fmla="*/ 668931 w 6053670"/>
              <a:gd name="connsiteY14" fmla="*/ 90014 h 5581866"/>
              <a:gd name="connsiteX15" fmla="*/ 815430 w 6053670"/>
              <a:gd name="connsiteY15" fmla="*/ 106794 h 5581866"/>
              <a:gd name="connsiteX16" fmla="*/ 974641 w 6053670"/>
              <a:gd name="connsiteY16" fmla="*/ 123574 h 5581866"/>
              <a:gd name="connsiteX17" fmla="*/ 1144144 w 6053670"/>
              <a:gd name="connsiteY17" fmla="*/ 140667 h 5581866"/>
              <a:gd name="connsiteX18" fmla="*/ 1326965 w 6053670"/>
              <a:gd name="connsiteY18" fmla="*/ 156506 h 5581866"/>
              <a:gd name="connsiteX19" fmla="*/ 1518261 w 6053670"/>
              <a:gd name="connsiteY19" fmla="*/ 171717 h 5581866"/>
              <a:gd name="connsiteX20" fmla="*/ 1720453 w 6053670"/>
              <a:gd name="connsiteY20" fmla="*/ 185518 h 5581866"/>
              <a:gd name="connsiteX21" fmla="*/ 1931121 w 6053670"/>
              <a:gd name="connsiteY21" fmla="*/ 198690 h 5581866"/>
              <a:gd name="connsiteX22" fmla="*/ 2150869 w 6053670"/>
              <a:gd name="connsiteY22" fmla="*/ 211079 h 5581866"/>
              <a:gd name="connsiteX23" fmla="*/ 2263467 w 6053670"/>
              <a:gd name="connsiteY23" fmla="*/ 215470 h 5581866"/>
              <a:gd name="connsiteX24" fmla="*/ 2378487 w 6053670"/>
              <a:gd name="connsiteY24" fmla="*/ 220332 h 5581866"/>
              <a:gd name="connsiteX25" fmla="*/ 2495323 w 6053670"/>
              <a:gd name="connsiteY25" fmla="*/ 224879 h 5581866"/>
              <a:gd name="connsiteX26" fmla="*/ 2612764 w 6053670"/>
              <a:gd name="connsiteY26" fmla="*/ 227859 h 5581866"/>
              <a:gd name="connsiteX27" fmla="*/ 2732627 w 6053670"/>
              <a:gd name="connsiteY27" fmla="*/ 230525 h 5581866"/>
              <a:gd name="connsiteX28" fmla="*/ 2853700 w 6053670"/>
              <a:gd name="connsiteY28" fmla="*/ 233348 h 5581866"/>
              <a:gd name="connsiteX29" fmla="*/ 2977195 w 6053670"/>
              <a:gd name="connsiteY29" fmla="*/ 235229 h 5581866"/>
              <a:gd name="connsiteX30" fmla="*/ 3101900 w 6053670"/>
              <a:gd name="connsiteY30" fmla="*/ 235229 h 5581866"/>
              <a:gd name="connsiteX31" fmla="*/ 3227817 w 6053670"/>
              <a:gd name="connsiteY31" fmla="*/ 236170 h 5581866"/>
              <a:gd name="connsiteX32" fmla="*/ 3354944 w 6053670"/>
              <a:gd name="connsiteY32" fmla="*/ 235229 h 5581866"/>
              <a:gd name="connsiteX33" fmla="*/ 3483887 w 6053670"/>
              <a:gd name="connsiteY33" fmla="*/ 233348 h 5581866"/>
              <a:gd name="connsiteX34" fmla="*/ 3612830 w 6053670"/>
              <a:gd name="connsiteY34" fmla="*/ 231623 h 5581866"/>
              <a:gd name="connsiteX35" fmla="*/ 3743589 w 6053670"/>
              <a:gd name="connsiteY35" fmla="*/ 227859 h 5581866"/>
              <a:gd name="connsiteX36" fmla="*/ 3875559 w 6053670"/>
              <a:gd name="connsiteY36" fmla="*/ 223938 h 5581866"/>
              <a:gd name="connsiteX37" fmla="*/ 4007529 w 6053670"/>
              <a:gd name="connsiteY37" fmla="*/ 219391 h 5581866"/>
              <a:gd name="connsiteX38" fmla="*/ 4140710 w 6053670"/>
              <a:gd name="connsiteY38" fmla="*/ 212961 h 5581866"/>
              <a:gd name="connsiteX39" fmla="*/ 4275102 w 6053670"/>
              <a:gd name="connsiteY39" fmla="*/ 205277 h 5581866"/>
              <a:gd name="connsiteX40" fmla="*/ 4410098 w 6053670"/>
              <a:gd name="connsiteY40" fmla="*/ 197907 h 5581866"/>
              <a:gd name="connsiteX41" fmla="*/ 4545096 w 6053670"/>
              <a:gd name="connsiteY41" fmla="*/ 188498 h 5581866"/>
              <a:gd name="connsiteX42" fmla="*/ 4681909 w 6053670"/>
              <a:gd name="connsiteY42" fmla="*/ 177207 h 5581866"/>
              <a:gd name="connsiteX43" fmla="*/ 4816905 w 6053670"/>
              <a:gd name="connsiteY43" fmla="*/ 165916 h 5581866"/>
              <a:gd name="connsiteX44" fmla="*/ 4954323 w 6053670"/>
              <a:gd name="connsiteY44" fmla="*/ 152899 h 5581866"/>
              <a:gd name="connsiteX45" fmla="*/ 5092347 w 6053670"/>
              <a:gd name="connsiteY45" fmla="*/ 138629 h 5581866"/>
              <a:gd name="connsiteX46" fmla="*/ 5228555 w 6053670"/>
              <a:gd name="connsiteY46" fmla="*/ 123574 h 5581866"/>
              <a:gd name="connsiteX47" fmla="*/ 5366578 w 6053670"/>
              <a:gd name="connsiteY47" fmla="*/ 106010 h 5581866"/>
              <a:gd name="connsiteX48" fmla="*/ 5503997 w 6053670"/>
              <a:gd name="connsiteY48" fmla="*/ 87192 h 5581866"/>
              <a:gd name="connsiteX49" fmla="*/ 5642020 w 6053670"/>
              <a:gd name="connsiteY49" fmla="*/ 68530 h 5581866"/>
              <a:gd name="connsiteX50" fmla="*/ 5779438 w 6053670"/>
              <a:gd name="connsiteY50" fmla="*/ 46733 h 5581866"/>
              <a:gd name="connsiteX51" fmla="*/ 5916251 w 6053670"/>
              <a:gd name="connsiteY51" fmla="*/ 24464 h 5581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5581866">
                <a:moveTo>
                  <a:pt x="6053670" y="1098"/>
                </a:moveTo>
                <a:lnTo>
                  <a:pt x="6053670" y="514028"/>
                </a:lnTo>
                <a:lnTo>
                  <a:pt x="6053670" y="1254558"/>
                </a:lnTo>
                <a:lnTo>
                  <a:pt x="6053670" y="5581866"/>
                </a:lnTo>
                <a:lnTo>
                  <a:pt x="0" y="5581866"/>
                </a:lnTo>
                <a:lnTo>
                  <a:pt x="0" y="1249853"/>
                </a:lnTo>
                <a:lnTo>
                  <a:pt x="0" y="514028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0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89" y="227859"/>
                </a:lnTo>
                <a:lnTo>
                  <a:pt x="3875559" y="223938"/>
                </a:lnTo>
                <a:lnTo>
                  <a:pt x="4007529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Freeform 5">
            <a:extLst>
              <a:ext uri="{FF2B5EF4-FFF2-40B4-BE49-F238E27FC236}">
                <a16:creationId xmlns:a16="http://schemas.microsoft.com/office/drawing/2014/main" id="{8ADF14A3-1454-4B74-8B4A-CB197D7A79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4698352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Freeform 5">
            <a:extLst>
              <a:ext uri="{FF2B5EF4-FFF2-40B4-BE49-F238E27FC236}">
                <a16:creationId xmlns:a16="http://schemas.microsoft.com/office/drawing/2014/main" id="{EC19D556-0251-4E87-AE24-890965BAD5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01B170-2221-8FD9-3B23-3DF87DB65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098" y="629265"/>
            <a:ext cx="5132438" cy="1622322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tx1"/>
                </a:solidFill>
              </a:rPr>
              <a:t>Box-cox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BC3C8C6-98E2-45EF-AEFC-30C0DBA0E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16606A-3567-C136-BB48-7D8E780BD9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098" y="1016452"/>
            <a:ext cx="5132439" cy="5214025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500" dirty="0">
                <a:solidFill>
                  <a:schemeClr val="tx1"/>
                </a:solidFill>
              </a:rPr>
              <a:t>Box-cox method tests a range of power transformations and picks the one that best normalized your data.</a:t>
            </a:r>
          </a:p>
          <a:p>
            <a:pPr>
              <a:lnSpc>
                <a:spcPct val="90000"/>
              </a:lnSpc>
            </a:pPr>
            <a:r>
              <a:rPr lang="en-US" sz="1500" dirty="0">
                <a:solidFill>
                  <a:schemeClr val="tx1"/>
                </a:solidFill>
              </a:rPr>
              <a:t>Lamba(</a:t>
            </a:r>
            <a:r>
              <a:rPr lang="en-US" sz="1500" dirty="0" err="1">
                <a:solidFill>
                  <a:schemeClr val="tx1"/>
                </a:solidFill>
              </a:rPr>
              <a:t>ƛ</a:t>
            </a:r>
            <a:r>
              <a:rPr lang="en-US" sz="1500" dirty="0">
                <a:solidFill>
                  <a:schemeClr val="tx1"/>
                </a:solidFill>
              </a:rPr>
              <a:t>)= parameter the method optimizes, could be one of these landmark values below, or a value tailored to your specific data like 0.4</a:t>
            </a:r>
          </a:p>
          <a:p>
            <a:pPr>
              <a:lnSpc>
                <a:spcPct val="90000"/>
              </a:lnSpc>
            </a:pPr>
            <a:r>
              <a:rPr lang="en-US" sz="1500" dirty="0">
                <a:solidFill>
                  <a:schemeClr val="tx1"/>
                </a:solidFill>
              </a:rPr>
              <a:t>Only works with POSITIVE values!</a:t>
            </a:r>
          </a:p>
          <a:p>
            <a:pPr>
              <a:lnSpc>
                <a:spcPct val="90000"/>
              </a:lnSpc>
            </a:pPr>
            <a:r>
              <a:rPr lang="en-US" sz="1500" dirty="0">
                <a:solidFill>
                  <a:schemeClr val="tx1"/>
                </a:solidFill>
              </a:rPr>
              <a:t>Use box-cox() function in R, fit </a:t>
            </a:r>
            <a:r>
              <a:rPr lang="en-US" sz="1500" dirty="0" err="1">
                <a:solidFill>
                  <a:schemeClr val="tx1"/>
                </a:solidFill>
              </a:rPr>
              <a:t>lm</a:t>
            </a:r>
            <a:r>
              <a:rPr lang="en-US" sz="1500" dirty="0">
                <a:solidFill>
                  <a:schemeClr val="tx1"/>
                </a:solidFill>
              </a:rPr>
              <a:t>() model, find and define  optimal lambda, fir new </a:t>
            </a:r>
            <a:r>
              <a:rPr lang="en-US" sz="1500" dirty="0" err="1">
                <a:solidFill>
                  <a:schemeClr val="tx1"/>
                </a:solidFill>
              </a:rPr>
              <a:t>lm</a:t>
            </a:r>
            <a:r>
              <a:rPr lang="en-US" sz="1500" dirty="0">
                <a:solidFill>
                  <a:schemeClr val="tx1"/>
                </a:solidFill>
              </a:rPr>
              <a:t>() with box-cox!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EC129B-442B-8A0A-38AA-561A69F813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836" y="1016452"/>
            <a:ext cx="4828707" cy="196769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E2B0B68-A4E2-B1E3-1B66-58E041F0A5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6090" y="2498213"/>
            <a:ext cx="4139744" cy="3529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7687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574B0-DA8C-6AA4-310A-A810D08D9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Yeo-Johnson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B3C004-6D2B-3B1A-CCA2-3CF92F884F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Dataset with zeros and negatives? </a:t>
            </a:r>
          </a:p>
          <a:p>
            <a:r>
              <a:rPr lang="en-US" dirty="0"/>
              <a:t>Yeo-Johnson transformation splits data into non-negative and negative values. For negative values it takes the absolute value of y +1, and for all non-negative values it applies the box-cox transformation to y+1.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72819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0B283-D2B3-CF78-05CF-2E8F4CC54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all else fails..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C1D03-2C00-D648-2027-AA6648E653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Rank-based transformations..</a:t>
            </a:r>
          </a:p>
          <a:p>
            <a:r>
              <a:rPr lang="en-US" dirty="0"/>
              <a:t>Pick a new model, a non-parametric test to try.</a:t>
            </a:r>
          </a:p>
          <a:p>
            <a:r>
              <a:rPr lang="en-US" dirty="0"/>
              <a:t>Non-parametric tests rank all observations and compare the sum of ranks between groups. Yields a valid result where parametric tests would not for genuinely non-normal data.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30853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E98646-5B4E-DC68-4FFA-5B6868AA0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43780CE-2BE5-46F6-97B2-60DF30217E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1A87A49-68E6-459E-A5A6-46229FF421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171964" y="-140866"/>
            <a:ext cx="6053670" cy="7139732"/>
          </a:xfrm>
          <a:custGeom>
            <a:avLst/>
            <a:gdLst>
              <a:gd name="connsiteX0" fmla="*/ 6053670 w 6053670"/>
              <a:gd name="connsiteY0" fmla="*/ 1098 h 7139732"/>
              <a:gd name="connsiteX1" fmla="*/ 6053670 w 6053670"/>
              <a:gd name="connsiteY1" fmla="*/ 1084479 h 7139732"/>
              <a:gd name="connsiteX2" fmla="*/ 6053670 w 6053670"/>
              <a:gd name="connsiteY2" fmla="*/ 1254558 h 7139732"/>
              <a:gd name="connsiteX3" fmla="*/ 6053670 w 6053670"/>
              <a:gd name="connsiteY3" fmla="*/ 7139732 h 7139732"/>
              <a:gd name="connsiteX4" fmla="*/ 0 w 6053670"/>
              <a:gd name="connsiteY4" fmla="*/ 7139732 h 7139732"/>
              <a:gd name="connsiteX5" fmla="*/ 0 w 6053670"/>
              <a:gd name="connsiteY5" fmla="*/ 1249853 h 7139732"/>
              <a:gd name="connsiteX6" fmla="*/ 0 w 6053670"/>
              <a:gd name="connsiteY6" fmla="*/ 1084479 h 7139732"/>
              <a:gd name="connsiteX7" fmla="*/ 0 w 6053670"/>
              <a:gd name="connsiteY7" fmla="*/ 0 h 7139732"/>
              <a:gd name="connsiteX8" fmla="*/ 35717 w 6053670"/>
              <a:gd name="connsiteY8" fmla="*/ 5488 h 7139732"/>
              <a:gd name="connsiteX9" fmla="*/ 140445 w 6053670"/>
              <a:gd name="connsiteY9" fmla="*/ 21641 h 7139732"/>
              <a:gd name="connsiteX10" fmla="*/ 216722 w 6053670"/>
              <a:gd name="connsiteY10" fmla="*/ 32932 h 7139732"/>
              <a:gd name="connsiteX11" fmla="*/ 307527 w 6053670"/>
              <a:gd name="connsiteY11" fmla="*/ 44850 h 7139732"/>
              <a:gd name="connsiteX12" fmla="*/ 415282 w 6053670"/>
              <a:gd name="connsiteY12" fmla="*/ 59121 h 7139732"/>
              <a:gd name="connsiteX13" fmla="*/ 534539 w 6053670"/>
              <a:gd name="connsiteY13" fmla="*/ 74175 h 7139732"/>
              <a:gd name="connsiteX14" fmla="*/ 668931 w 6053670"/>
              <a:gd name="connsiteY14" fmla="*/ 90014 h 7139732"/>
              <a:gd name="connsiteX15" fmla="*/ 815430 w 6053670"/>
              <a:gd name="connsiteY15" fmla="*/ 106794 h 7139732"/>
              <a:gd name="connsiteX16" fmla="*/ 974641 w 6053670"/>
              <a:gd name="connsiteY16" fmla="*/ 123574 h 7139732"/>
              <a:gd name="connsiteX17" fmla="*/ 1144144 w 6053670"/>
              <a:gd name="connsiteY17" fmla="*/ 140667 h 7139732"/>
              <a:gd name="connsiteX18" fmla="*/ 1326965 w 6053670"/>
              <a:gd name="connsiteY18" fmla="*/ 156506 h 7139732"/>
              <a:gd name="connsiteX19" fmla="*/ 1518261 w 6053670"/>
              <a:gd name="connsiteY19" fmla="*/ 171717 h 7139732"/>
              <a:gd name="connsiteX20" fmla="*/ 1720453 w 6053670"/>
              <a:gd name="connsiteY20" fmla="*/ 185518 h 7139732"/>
              <a:gd name="connsiteX21" fmla="*/ 1931121 w 6053670"/>
              <a:gd name="connsiteY21" fmla="*/ 198690 h 7139732"/>
              <a:gd name="connsiteX22" fmla="*/ 2150869 w 6053670"/>
              <a:gd name="connsiteY22" fmla="*/ 211079 h 7139732"/>
              <a:gd name="connsiteX23" fmla="*/ 2263467 w 6053670"/>
              <a:gd name="connsiteY23" fmla="*/ 215470 h 7139732"/>
              <a:gd name="connsiteX24" fmla="*/ 2378487 w 6053670"/>
              <a:gd name="connsiteY24" fmla="*/ 220332 h 7139732"/>
              <a:gd name="connsiteX25" fmla="*/ 2495323 w 6053670"/>
              <a:gd name="connsiteY25" fmla="*/ 224879 h 7139732"/>
              <a:gd name="connsiteX26" fmla="*/ 2612764 w 6053670"/>
              <a:gd name="connsiteY26" fmla="*/ 227859 h 7139732"/>
              <a:gd name="connsiteX27" fmla="*/ 2732627 w 6053670"/>
              <a:gd name="connsiteY27" fmla="*/ 230525 h 7139732"/>
              <a:gd name="connsiteX28" fmla="*/ 2853700 w 6053670"/>
              <a:gd name="connsiteY28" fmla="*/ 233348 h 7139732"/>
              <a:gd name="connsiteX29" fmla="*/ 2977195 w 6053670"/>
              <a:gd name="connsiteY29" fmla="*/ 235229 h 7139732"/>
              <a:gd name="connsiteX30" fmla="*/ 3101901 w 6053670"/>
              <a:gd name="connsiteY30" fmla="*/ 235229 h 7139732"/>
              <a:gd name="connsiteX31" fmla="*/ 3227817 w 6053670"/>
              <a:gd name="connsiteY31" fmla="*/ 236170 h 7139732"/>
              <a:gd name="connsiteX32" fmla="*/ 3354944 w 6053670"/>
              <a:gd name="connsiteY32" fmla="*/ 235229 h 7139732"/>
              <a:gd name="connsiteX33" fmla="*/ 3483887 w 6053670"/>
              <a:gd name="connsiteY33" fmla="*/ 233348 h 7139732"/>
              <a:gd name="connsiteX34" fmla="*/ 3612830 w 6053670"/>
              <a:gd name="connsiteY34" fmla="*/ 231623 h 7139732"/>
              <a:gd name="connsiteX35" fmla="*/ 3743590 w 6053670"/>
              <a:gd name="connsiteY35" fmla="*/ 227859 h 7139732"/>
              <a:gd name="connsiteX36" fmla="*/ 3875560 w 6053670"/>
              <a:gd name="connsiteY36" fmla="*/ 223938 h 7139732"/>
              <a:gd name="connsiteX37" fmla="*/ 4007530 w 6053670"/>
              <a:gd name="connsiteY37" fmla="*/ 219391 h 7139732"/>
              <a:gd name="connsiteX38" fmla="*/ 4140710 w 6053670"/>
              <a:gd name="connsiteY38" fmla="*/ 212961 h 7139732"/>
              <a:gd name="connsiteX39" fmla="*/ 4275102 w 6053670"/>
              <a:gd name="connsiteY39" fmla="*/ 205277 h 7139732"/>
              <a:gd name="connsiteX40" fmla="*/ 4410098 w 6053670"/>
              <a:gd name="connsiteY40" fmla="*/ 197907 h 7139732"/>
              <a:gd name="connsiteX41" fmla="*/ 4545096 w 6053670"/>
              <a:gd name="connsiteY41" fmla="*/ 188498 h 7139732"/>
              <a:gd name="connsiteX42" fmla="*/ 4681909 w 6053670"/>
              <a:gd name="connsiteY42" fmla="*/ 177207 h 7139732"/>
              <a:gd name="connsiteX43" fmla="*/ 4816905 w 6053670"/>
              <a:gd name="connsiteY43" fmla="*/ 165916 h 7139732"/>
              <a:gd name="connsiteX44" fmla="*/ 4954323 w 6053670"/>
              <a:gd name="connsiteY44" fmla="*/ 152899 h 7139732"/>
              <a:gd name="connsiteX45" fmla="*/ 5092347 w 6053670"/>
              <a:gd name="connsiteY45" fmla="*/ 138629 h 7139732"/>
              <a:gd name="connsiteX46" fmla="*/ 5228555 w 6053670"/>
              <a:gd name="connsiteY46" fmla="*/ 123574 h 7139732"/>
              <a:gd name="connsiteX47" fmla="*/ 5366578 w 6053670"/>
              <a:gd name="connsiteY47" fmla="*/ 106010 h 7139732"/>
              <a:gd name="connsiteX48" fmla="*/ 5503997 w 6053670"/>
              <a:gd name="connsiteY48" fmla="*/ 87192 h 7139732"/>
              <a:gd name="connsiteX49" fmla="*/ 5642020 w 6053670"/>
              <a:gd name="connsiteY49" fmla="*/ 68530 h 7139732"/>
              <a:gd name="connsiteX50" fmla="*/ 5779438 w 6053670"/>
              <a:gd name="connsiteY50" fmla="*/ 46733 h 7139732"/>
              <a:gd name="connsiteX51" fmla="*/ 5916251 w 6053670"/>
              <a:gd name="connsiteY51" fmla="*/ 24464 h 7139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7139732">
                <a:moveTo>
                  <a:pt x="6053670" y="1098"/>
                </a:moveTo>
                <a:lnTo>
                  <a:pt x="6053670" y="1084479"/>
                </a:lnTo>
                <a:lnTo>
                  <a:pt x="6053670" y="1254558"/>
                </a:lnTo>
                <a:lnTo>
                  <a:pt x="6053670" y="7139732"/>
                </a:lnTo>
                <a:lnTo>
                  <a:pt x="0" y="7139732"/>
                </a:lnTo>
                <a:lnTo>
                  <a:pt x="0" y="1249853"/>
                </a:lnTo>
                <a:lnTo>
                  <a:pt x="0" y="1084479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1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90" y="227859"/>
                </a:lnTo>
                <a:lnTo>
                  <a:pt x="3875560" y="223938"/>
                </a:lnTo>
                <a:lnTo>
                  <a:pt x="4007530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Freeform 5">
            <a:extLst>
              <a:ext uri="{FF2B5EF4-FFF2-40B4-BE49-F238E27FC236}">
                <a16:creationId xmlns:a16="http://schemas.microsoft.com/office/drawing/2014/main" id="{F6ACD5FC-CAFE-48EB-B765-60EED2E052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07DB32-9824-7144-1178-A507D64F1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5" y="973668"/>
            <a:ext cx="2942210" cy="102023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500">
                <a:solidFill>
                  <a:srgbClr val="EBEBEB"/>
                </a:solidFill>
              </a:rPr>
              <a:t>Non-parametric linear models</a:t>
            </a:r>
          </a:p>
        </p:txBody>
      </p:sp>
      <p:pic>
        <p:nvPicPr>
          <p:cNvPr id="5" name="Picture 4" descr="Distribution de modèles linéaires généralisés et sélection de fonctions ...">
            <a:extLst>
              <a:ext uri="{FF2B5EF4-FFF2-40B4-BE49-F238E27FC236}">
                <a16:creationId xmlns:a16="http://schemas.microsoft.com/office/drawing/2014/main" id="{889FDEF4-E5B2-47CC-7BB9-3829DC9824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4607" y="1631382"/>
            <a:ext cx="6391533" cy="3595236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9F33B405-D785-4738-B1C0-6A0AA5E982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233DC0E-DE6C-4FB6-A529-51B162641A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11000"/>
                </a:schemeClr>
              </a:gs>
              <a:gs pos="75000">
                <a:schemeClr val="accent5">
                  <a:alpha val="0"/>
                </a:schemeClr>
              </a:gs>
              <a:gs pos="36000">
                <a:schemeClr val="accent5"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870477F-E451-4BC3-863F-0E2FC5728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8000"/>
                </a:schemeClr>
              </a:gs>
              <a:gs pos="72000">
                <a:schemeClr val="accent5">
                  <a:alpha val="0"/>
                </a:schemeClr>
              </a:gs>
              <a:gs pos="36000">
                <a:schemeClr val="accent5"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14EA87-2CF6-0747-887F-5F5DF3DB24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5" y="2120900"/>
            <a:ext cx="3133726" cy="38989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500">
                <a:solidFill>
                  <a:srgbClr val="FFFFFF"/>
                </a:solidFill>
              </a:rPr>
              <a:t> Distribution Families</a:t>
            </a:r>
          </a:p>
          <a:p>
            <a:pPr lvl="1">
              <a:lnSpc>
                <a:spcPct val="90000"/>
              </a:lnSpc>
            </a:pPr>
            <a:r>
              <a:rPr lang="en-US" sz="1500">
                <a:solidFill>
                  <a:srgbClr val="FFFFFF"/>
                </a:solidFill>
              </a:rPr>
              <a:t>Binomial – works for binary data</a:t>
            </a:r>
          </a:p>
          <a:p>
            <a:pPr lvl="1">
              <a:lnSpc>
                <a:spcPct val="90000"/>
              </a:lnSpc>
            </a:pPr>
            <a:r>
              <a:rPr lang="en-US" sz="1500">
                <a:solidFill>
                  <a:srgbClr val="FFFFFF"/>
                </a:solidFill>
              </a:rPr>
              <a:t>Poisson – works for count data</a:t>
            </a:r>
          </a:p>
          <a:p>
            <a:pPr marL="457200" lvl="1" indent="0">
              <a:lnSpc>
                <a:spcPct val="90000"/>
              </a:lnSpc>
              <a:buNone/>
            </a:pPr>
            <a:endParaRPr lang="en-US" sz="1500">
              <a:solidFill>
                <a:srgbClr val="FFFFFF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500">
                <a:solidFill>
                  <a:srgbClr val="FFFFFF"/>
                </a:solidFill>
              </a:rPr>
              <a:t>Generalized Linear Mixed Models for non-normal data</a:t>
            </a:r>
          </a:p>
          <a:p>
            <a:pPr lvl="1">
              <a:lnSpc>
                <a:spcPct val="90000"/>
              </a:lnSpc>
            </a:pPr>
            <a:r>
              <a:rPr lang="en-US" sz="1500">
                <a:solidFill>
                  <a:srgbClr val="FFFFFF"/>
                </a:solidFill>
              </a:rPr>
              <a:t>Long format data</a:t>
            </a:r>
          </a:p>
          <a:p>
            <a:pPr lvl="1">
              <a:lnSpc>
                <a:spcPct val="90000"/>
              </a:lnSpc>
            </a:pPr>
            <a:r>
              <a:rPr lang="en-US" sz="1500">
                <a:solidFill>
                  <a:srgbClr val="FFFFFF"/>
                </a:solidFill>
              </a:rPr>
              <a:t>Choose distribution, link function, random effects</a:t>
            </a:r>
          </a:p>
          <a:p>
            <a:pPr lvl="1">
              <a:lnSpc>
                <a:spcPct val="90000"/>
              </a:lnSpc>
            </a:pPr>
            <a:r>
              <a:rPr lang="en-US" sz="1500">
                <a:solidFill>
                  <a:srgbClr val="FFFFFF"/>
                </a:solidFill>
              </a:rPr>
              <a:t>Fit the model</a:t>
            </a:r>
          </a:p>
          <a:p>
            <a:pPr lvl="1">
              <a:lnSpc>
                <a:spcPct val="90000"/>
              </a:lnSpc>
            </a:pPr>
            <a:endParaRPr lang="en-US" sz="1500">
              <a:solidFill>
                <a:srgbClr val="FFFFFF"/>
              </a:solidFill>
            </a:endParaRPr>
          </a:p>
          <a:p>
            <a:pPr lvl="2">
              <a:lnSpc>
                <a:spcPct val="90000"/>
              </a:lnSpc>
            </a:pPr>
            <a:endParaRPr lang="en-US" sz="1500">
              <a:solidFill>
                <a:srgbClr val="FFFFFF"/>
              </a:solidFill>
            </a:endParaRPr>
          </a:p>
          <a:p>
            <a:pPr>
              <a:lnSpc>
                <a:spcPct val="90000"/>
              </a:lnSpc>
            </a:pPr>
            <a:endParaRPr lang="en-US" sz="1500">
              <a:solidFill>
                <a:srgbClr val="FFFFFF"/>
              </a:solidFill>
            </a:endParaRPr>
          </a:p>
          <a:p>
            <a:pPr>
              <a:lnSpc>
                <a:spcPct val="90000"/>
              </a:lnSpc>
            </a:pPr>
            <a:endParaRPr lang="en-US" sz="1500">
              <a:solidFill>
                <a:srgbClr val="FFFFFF"/>
              </a:solidFill>
            </a:endParaRPr>
          </a:p>
        </p:txBody>
      </p:sp>
      <p:sp>
        <p:nvSpPr>
          <p:cNvPr id="22" name="Freeform 5">
            <a:extLst>
              <a:ext uri="{FF2B5EF4-FFF2-40B4-BE49-F238E27FC236}">
                <a16:creationId xmlns:a16="http://schemas.microsoft.com/office/drawing/2014/main" id="{B4A81DE1-E2BC-4A31-99EE-71350421B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3140485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93857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92599-8B94-BEBB-15FD-C2FD1B9A4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 Recap…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584AFDE-43E0-0387-2E21-6EF9B75E28FF}"/>
              </a:ext>
            </a:extLst>
          </p:cNvPr>
          <p:cNvSpPr txBox="1">
            <a:spLocks/>
          </p:cNvSpPr>
          <p:nvPr/>
        </p:nvSpPr>
        <p:spPr>
          <a:xfrm>
            <a:off x="2836189" y="2448731"/>
            <a:ext cx="3037668" cy="1337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If data is non-normal, pick appropriate function..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1067985-0902-A252-5D9F-5F1C52B9D1F3}"/>
              </a:ext>
            </a:extLst>
          </p:cNvPr>
          <p:cNvSpPr txBox="1">
            <a:spLocks/>
          </p:cNvSpPr>
          <p:nvPr/>
        </p:nvSpPr>
        <p:spPr>
          <a:xfrm>
            <a:off x="6044339" y="2448731"/>
            <a:ext cx="3037668" cy="11350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Compare transformed data to non-transformed data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05A8659-A78F-0FCB-4F8E-B4D6328C8FDA}"/>
              </a:ext>
            </a:extLst>
          </p:cNvPr>
          <p:cNvSpPr txBox="1">
            <a:spLocks/>
          </p:cNvSpPr>
          <p:nvPr/>
        </p:nvSpPr>
        <p:spPr>
          <a:xfrm>
            <a:off x="9082006" y="2448731"/>
            <a:ext cx="3037661" cy="13948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If data is truly non-normal, choose a non-parametric linear model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C65CA4-C41C-11A3-CB71-E890ABEAA84F}"/>
              </a:ext>
            </a:extLst>
          </p:cNvPr>
          <p:cNvSpPr txBox="1"/>
          <p:nvPr/>
        </p:nvSpPr>
        <p:spPr>
          <a:xfrm>
            <a:off x="0" y="4339525"/>
            <a:ext cx="1154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 </a:t>
            </a:r>
          </a:p>
          <a:p>
            <a:r>
              <a:rPr lang="en-US" b="1" dirty="0"/>
              <a:t>tool-set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D4ED90-218A-301C-9D08-68112D1EC7D3}"/>
              </a:ext>
            </a:extLst>
          </p:cNvPr>
          <p:cNvSpPr txBox="1"/>
          <p:nvPr/>
        </p:nvSpPr>
        <p:spPr>
          <a:xfrm>
            <a:off x="1154953" y="4029559"/>
            <a:ext cx="219268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skew()</a:t>
            </a:r>
          </a:p>
          <a:p>
            <a:r>
              <a:rPr lang="en-US" dirty="0" err="1"/>
              <a:t>kurtosi</a:t>
            </a:r>
            <a:r>
              <a:rPr lang="en-US" dirty="0"/>
              <a:t>()</a:t>
            </a:r>
          </a:p>
          <a:p>
            <a:endParaRPr lang="en-US" dirty="0"/>
          </a:p>
          <a:p>
            <a:r>
              <a:rPr lang="en-US" dirty="0" err="1"/>
              <a:t>qnorm</a:t>
            </a:r>
            <a:r>
              <a:rPr lang="en-US" dirty="0"/>
              <a:t>()</a:t>
            </a:r>
          </a:p>
          <a:p>
            <a:r>
              <a:rPr lang="en-US" dirty="0" err="1"/>
              <a:t>qqline</a:t>
            </a:r>
            <a:r>
              <a:rPr lang="en-US" dirty="0"/>
              <a:t>()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6E72F4-AFD3-803D-5062-EB07B26C2CED}"/>
              </a:ext>
            </a:extLst>
          </p:cNvPr>
          <p:cNvSpPr txBox="1"/>
          <p:nvPr/>
        </p:nvSpPr>
        <p:spPr>
          <a:xfrm flipH="1">
            <a:off x="2836189" y="4029559"/>
            <a:ext cx="310482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lm</a:t>
            </a:r>
            <a:r>
              <a:rPr lang="en-US" dirty="0"/>
              <a:t>(</a:t>
            </a:r>
            <a:r>
              <a:rPr lang="en-US" dirty="0" err="1"/>
              <a:t>y~x</a:t>
            </a:r>
            <a:r>
              <a:rPr lang="en-US" dirty="0"/>
              <a:t>)</a:t>
            </a:r>
          </a:p>
          <a:p>
            <a:r>
              <a:rPr lang="en-US" dirty="0" err="1"/>
              <a:t>Bxcx</a:t>
            </a:r>
            <a:r>
              <a:rPr lang="en-US" dirty="0"/>
              <a:t> &lt;- </a:t>
            </a:r>
            <a:r>
              <a:rPr lang="en-US" dirty="0" err="1"/>
              <a:t>boxcox</a:t>
            </a:r>
            <a:r>
              <a:rPr lang="en-US" dirty="0"/>
              <a:t>(</a:t>
            </a:r>
            <a:r>
              <a:rPr lang="en-US" dirty="0" err="1"/>
              <a:t>y~x</a:t>
            </a:r>
            <a:r>
              <a:rPr lang="en-US" dirty="0"/>
              <a:t>)</a:t>
            </a:r>
          </a:p>
          <a:p>
            <a:r>
              <a:rPr lang="en-US" dirty="0"/>
              <a:t>Lamba &lt;- …</a:t>
            </a:r>
          </a:p>
          <a:p>
            <a:endParaRPr lang="en-US" dirty="0"/>
          </a:p>
          <a:p>
            <a:r>
              <a:rPr lang="en-US" dirty="0" err="1"/>
              <a:t>New_lm</a:t>
            </a:r>
            <a:r>
              <a:rPr lang="en-US" dirty="0"/>
              <a:t> &lt;- </a:t>
            </a:r>
            <a:r>
              <a:rPr lang="en-US" dirty="0" err="1"/>
              <a:t>lm</a:t>
            </a:r>
            <a:r>
              <a:rPr lang="en-US" dirty="0"/>
              <a:t> (((y^lambda-1)/</a:t>
            </a:r>
            <a:r>
              <a:rPr lang="en-US" dirty="0" err="1"/>
              <a:t>lamba</a:t>
            </a:r>
            <a:r>
              <a:rPr lang="en-US" dirty="0"/>
              <a:t>) ~x)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FA9B46-F998-01C8-7FF4-D714DF53367F}"/>
              </a:ext>
            </a:extLst>
          </p:cNvPr>
          <p:cNvSpPr txBox="1"/>
          <p:nvPr/>
        </p:nvSpPr>
        <p:spPr>
          <a:xfrm>
            <a:off x="6095999" y="4029559"/>
            <a:ext cx="298600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skew(</a:t>
            </a:r>
            <a:r>
              <a:rPr lang="en-US" dirty="0" err="1"/>
              <a:t>lm$y</a:t>
            </a:r>
            <a:r>
              <a:rPr lang="en-US" dirty="0"/>
              <a:t>)</a:t>
            </a:r>
          </a:p>
          <a:p>
            <a:r>
              <a:rPr lang="en-US" dirty="0"/>
              <a:t>skew(</a:t>
            </a:r>
            <a:r>
              <a:rPr lang="en-US" dirty="0" err="1"/>
              <a:t>new_lm$y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 err="1"/>
              <a:t>qqnorm</a:t>
            </a:r>
            <a:r>
              <a:rPr lang="en-US" dirty="0"/>
              <a:t>(</a:t>
            </a:r>
            <a:r>
              <a:rPr lang="en-US" dirty="0" err="1"/>
              <a:t>new_lm$y</a:t>
            </a:r>
            <a:r>
              <a:rPr lang="en-US" dirty="0"/>
              <a:t>)</a:t>
            </a:r>
          </a:p>
          <a:p>
            <a:r>
              <a:rPr lang="en-US" dirty="0" err="1"/>
              <a:t>qqline</a:t>
            </a:r>
            <a:r>
              <a:rPr lang="en-US" dirty="0"/>
              <a:t>(</a:t>
            </a:r>
            <a:r>
              <a:rPr lang="en-US" dirty="0" err="1"/>
              <a:t>new_lm$y</a:t>
            </a:r>
            <a:r>
              <a:rPr lang="en-US" dirty="0"/>
              <a:t>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6A63947-9249-78EE-3ED3-1B3567689967}"/>
              </a:ext>
            </a:extLst>
          </p:cNvPr>
          <p:cNvSpPr txBox="1"/>
          <p:nvPr/>
        </p:nvSpPr>
        <p:spPr>
          <a:xfrm>
            <a:off x="9166390" y="4029559"/>
            <a:ext cx="27518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Model &lt;- </a:t>
            </a:r>
            <a:r>
              <a:rPr lang="en-US" dirty="0" err="1"/>
              <a:t>glmer</a:t>
            </a:r>
            <a:r>
              <a:rPr lang="en-US" dirty="0"/>
              <a:t>(y ~x + 1|random), data = ?, family= ?l(link=“?”)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EFF40B-BA1A-452A-77BA-0BBD54B58649}"/>
              </a:ext>
            </a:extLst>
          </p:cNvPr>
          <p:cNvSpPr txBox="1"/>
          <p:nvPr/>
        </p:nvSpPr>
        <p:spPr>
          <a:xfrm>
            <a:off x="0" y="2601131"/>
            <a:ext cx="30376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 dataset for normality by plotting or with skew coefficient.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D196824-982E-DE74-BE90-56CFF3BF31CC}"/>
              </a:ext>
            </a:extLst>
          </p:cNvPr>
          <p:cNvCxnSpPr/>
          <p:nvPr/>
        </p:nvCxnSpPr>
        <p:spPr>
          <a:xfrm>
            <a:off x="0" y="3843580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6082662-7A03-2F94-6DA4-071F5C967542}"/>
              </a:ext>
            </a:extLst>
          </p:cNvPr>
          <p:cNvCxnSpPr/>
          <p:nvPr/>
        </p:nvCxnSpPr>
        <p:spPr>
          <a:xfrm>
            <a:off x="2836190" y="3843580"/>
            <a:ext cx="0" cy="30144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BEEC889-E270-2CFC-D3FF-F11DA126A43A}"/>
              </a:ext>
            </a:extLst>
          </p:cNvPr>
          <p:cNvCxnSpPr/>
          <p:nvPr/>
        </p:nvCxnSpPr>
        <p:spPr>
          <a:xfrm>
            <a:off x="5907432" y="3843580"/>
            <a:ext cx="0" cy="30144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3BBB2C5-DFEB-214F-54F5-5740EBF3056B}"/>
              </a:ext>
            </a:extLst>
          </p:cNvPr>
          <p:cNvCxnSpPr/>
          <p:nvPr/>
        </p:nvCxnSpPr>
        <p:spPr>
          <a:xfrm>
            <a:off x="9082007" y="3843580"/>
            <a:ext cx="0" cy="30144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22538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B00331-D097-F832-77EB-831B58F70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1C46391E-BC8C-3792-3D78-032FCBBDF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6F47359-0ED1-9D7E-0F70-DDD9DF5A43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3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5E1B4C27-DF68-597B-314D-92FB85DB76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694C023-D28B-8919-B3BF-DD40737837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Today’s Objectives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0AF521-97C7-3BCC-D05D-15E9FD5847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5B56A93-0391-6566-DC55-29061E477AE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286934" y="2324100"/>
          <a:ext cx="9625383" cy="34226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12D17EE4-BCF2-C030-77F9-40C2E0A21AEC}"/>
              </a:ext>
            </a:extLst>
          </p:cNvPr>
          <p:cNvSpPr/>
          <p:nvPr/>
        </p:nvSpPr>
        <p:spPr>
          <a:xfrm>
            <a:off x="1744868" y="1798660"/>
            <a:ext cx="7160217" cy="43891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Let’s open R!</a:t>
            </a:r>
          </a:p>
          <a:p>
            <a:pPr algn="ctr"/>
            <a:endParaRPr lang="en-US" dirty="0">
              <a:ln w="0"/>
              <a:solidFill>
                <a:sysClr val="windowText" lastClr="00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1174816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6978C1-1C59-2697-D5CB-A88397D8F311}"/>
              </a:ext>
            </a:extLst>
          </p:cNvPr>
          <p:cNvSpPr txBox="1"/>
          <p:nvPr/>
        </p:nvSpPr>
        <p:spPr>
          <a:xfrm>
            <a:off x="2371241" y="619932"/>
            <a:ext cx="7299701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References:</a:t>
            </a:r>
          </a:p>
          <a:p>
            <a:pPr algn="ctr"/>
            <a:endParaRPr lang="en-US" sz="4000" dirty="0"/>
          </a:p>
          <a:p>
            <a:pPr algn="ctr"/>
            <a:endParaRPr lang="en-US" sz="4000" dirty="0"/>
          </a:p>
          <a:p>
            <a:r>
              <a:rPr lang="en-US" dirty="0">
                <a:hlinkClick r:id="rId2"/>
              </a:rPr>
              <a:t>https://scienceinsights.org/how-to-transform-non-normal-data-in-statistics/</a:t>
            </a:r>
            <a:endParaRPr lang="en-US" dirty="0"/>
          </a:p>
          <a:p>
            <a:endParaRPr lang="en-US" dirty="0"/>
          </a:p>
          <a:p>
            <a:r>
              <a:rPr lang="en-US" dirty="0">
                <a:hlinkClick r:id="rId3"/>
              </a:rPr>
              <a:t>https://www.geeksforgeeks.org/data-analysis/log-normalization-for-outliers-convert-skewed-data-to-normal-distribution/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>
                <a:hlinkClick r:id="rId4"/>
              </a:rPr>
              <a:t>https://www.youtube.com/watch?v=lE_HBLDnZFE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23281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241</TotalTime>
  <Words>1188</Words>
  <Application>Microsoft Macintosh PowerPoint</Application>
  <PresentationFormat>Widescreen</PresentationFormat>
  <Paragraphs>120</Paragraphs>
  <Slides>14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Century Gothic</vt:lpstr>
      <vt:lpstr>Wingdings 3</vt:lpstr>
      <vt:lpstr>Ion Boardroom</vt:lpstr>
      <vt:lpstr>Dealing w/skewed data + linear model selection</vt:lpstr>
      <vt:lpstr>Today’s Objectives</vt:lpstr>
      <vt:lpstr>Normal Distribution – the Bell Curve</vt:lpstr>
      <vt:lpstr>Non-normal Distribution</vt:lpstr>
      <vt:lpstr>Exponents vs ln() for data normalization</vt:lpstr>
      <vt:lpstr>Natural Log</vt:lpstr>
      <vt:lpstr>Exponents – Which one?</vt:lpstr>
      <vt:lpstr>Box-cox</vt:lpstr>
      <vt:lpstr>Yeo-Johnson</vt:lpstr>
      <vt:lpstr>If all else fails..</vt:lpstr>
      <vt:lpstr>Non-parametric linear models</vt:lpstr>
      <vt:lpstr>To Recap…</vt:lpstr>
      <vt:lpstr>Today’s Objectives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Laura Dagg</dc:creator>
  <cp:lastModifiedBy>Laura Dagg</cp:lastModifiedBy>
  <cp:revision>1</cp:revision>
  <dcterms:created xsi:type="dcterms:W3CDTF">2026-10-20T21:28:09Z</dcterms:created>
  <dcterms:modified xsi:type="dcterms:W3CDTF">2026-10-21T01:29:47Z</dcterms:modified>
</cp:coreProperties>
</file>