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69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70"/>
    <p:restoredTop sz="65185"/>
  </p:normalViewPr>
  <p:slideViewPr>
    <p:cSldViewPr snapToGrid="0">
      <p:cViewPr>
        <p:scale>
          <a:sx n="86" d="100"/>
          <a:sy n="86" d="100"/>
        </p:scale>
        <p:origin x="120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E8537-3A9F-4D93-AAF8-BF7B064184B6}" type="doc">
      <dgm:prSet loTypeId="urn:microsoft.com/office/officeart/2016/7/layout/BasicLinearProcessNumbered#2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4A55DA0-D537-4F9A-A96A-206D950DE888}">
      <dgm:prSet/>
      <dgm:spPr/>
      <dgm:t>
        <a:bodyPr/>
        <a:lstStyle/>
        <a:p>
          <a:r>
            <a:rPr lang="en-US" b="0" i="0"/>
            <a:t>Define a normal vs. non-normal distribution and when it matters</a:t>
          </a:r>
          <a:endParaRPr lang="en-US"/>
        </a:p>
      </dgm:t>
    </dgm:pt>
    <dgm:pt modelId="{8684FDF0-66D5-481F-AB2A-7A982DF21ABB}" type="parTrans" cxnId="{11907789-486E-4980-8F13-C16AC5ADA0AA}">
      <dgm:prSet/>
      <dgm:spPr/>
      <dgm:t>
        <a:bodyPr/>
        <a:lstStyle/>
        <a:p>
          <a:endParaRPr lang="en-US"/>
        </a:p>
      </dgm:t>
    </dgm:pt>
    <dgm:pt modelId="{C78368A8-9612-45FF-BF42-5DF1B05E3437}" type="sibTrans" cxnId="{11907789-486E-4980-8F13-C16AC5ADA0A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1B20956-D3F7-4822-BDF5-C5FC17434A52}">
      <dgm:prSet/>
      <dgm:spPr/>
      <dgm:t>
        <a:bodyPr/>
        <a:lstStyle/>
        <a:p>
          <a:r>
            <a:rPr lang="en-US" b="0" i="0"/>
            <a:t>Understand how to determine skew in your dataset</a:t>
          </a:r>
          <a:endParaRPr lang="en-US"/>
        </a:p>
      </dgm:t>
    </dgm:pt>
    <dgm:pt modelId="{2B8637C9-1F9B-4875-A6E6-46F90CA90ADE}" type="parTrans" cxnId="{45CBEAF3-104A-4C8E-BC88-0EC46705423B}">
      <dgm:prSet/>
      <dgm:spPr/>
      <dgm:t>
        <a:bodyPr/>
        <a:lstStyle/>
        <a:p>
          <a:endParaRPr lang="en-US"/>
        </a:p>
      </dgm:t>
    </dgm:pt>
    <dgm:pt modelId="{29384AB4-D752-41CB-9858-43116D6412EC}" type="sibTrans" cxnId="{45CBEAF3-104A-4C8E-BC88-0EC46705423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9F26AC4-9B33-4631-9B8C-92FA64733C20}">
      <dgm:prSet/>
      <dgm:spPr/>
      <dgm:t>
        <a:bodyPr/>
        <a:lstStyle/>
        <a:p>
          <a:r>
            <a:rPr lang="en-US" b="0" i="0"/>
            <a:t>Develop a toolbox of how to deal with skewed data</a:t>
          </a:r>
          <a:endParaRPr lang="en-US"/>
        </a:p>
      </dgm:t>
    </dgm:pt>
    <dgm:pt modelId="{C71DAFBC-A356-4890-8000-669EDD3CEFC4}" type="parTrans" cxnId="{97F98EE9-649F-44CC-86EE-EA16AD029262}">
      <dgm:prSet/>
      <dgm:spPr/>
      <dgm:t>
        <a:bodyPr/>
        <a:lstStyle/>
        <a:p>
          <a:endParaRPr lang="en-US"/>
        </a:p>
      </dgm:t>
    </dgm:pt>
    <dgm:pt modelId="{C8027C38-2214-47BC-A081-CC8CD96E3207}" type="sibTrans" cxnId="{97F98EE9-649F-44CC-86EE-EA16AD02926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3C41905-E70A-2042-A000-B6D5BD2E9B3B}">
      <dgm:prSet phldrT="[Text]"/>
      <dgm:spPr/>
      <dgm:t>
        <a:bodyPr/>
        <a:lstStyle/>
        <a:p>
          <a:r>
            <a:rPr lang="en-US" dirty="0"/>
            <a:t>Understand what to do if normalization fails.</a:t>
          </a:r>
        </a:p>
      </dgm:t>
    </dgm:pt>
    <dgm:pt modelId="{68EA095D-96D4-A544-9645-DBB49437BE2F}" type="parTrans" cxnId="{9C82E4ED-2409-434B-944B-A54981FAEC4A}">
      <dgm:prSet/>
      <dgm:spPr/>
    </dgm:pt>
    <dgm:pt modelId="{00EC4378-1CE3-2D4D-99C0-FBA948CA3A04}" type="sibTrans" cxnId="{9C82E4ED-2409-434B-944B-A54981FAEC4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968CAFC-9F68-FE43-9748-2FF219222490}" type="pres">
      <dgm:prSet presAssocID="{4BEE8537-3A9F-4D93-AAF8-BF7B064184B6}" presName="Name0" presStyleCnt="0">
        <dgm:presLayoutVars>
          <dgm:animLvl val="lvl"/>
          <dgm:resizeHandles val="exact"/>
        </dgm:presLayoutVars>
      </dgm:prSet>
      <dgm:spPr/>
    </dgm:pt>
    <dgm:pt modelId="{E2297464-C8F4-5D4F-B350-F315BE29858D}" type="pres">
      <dgm:prSet presAssocID="{B4A55DA0-D537-4F9A-A96A-206D950DE888}" presName="compositeNode" presStyleCnt="0">
        <dgm:presLayoutVars>
          <dgm:bulletEnabled val="1"/>
        </dgm:presLayoutVars>
      </dgm:prSet>
      <dgm:spPr/>
    </dgm:pt>
    <dgm:pt modelId="{F5531E6B-EE7E-C940-BBFC-AEA2CB55A651}" type="pres">
      <dgm:prSet presAssocID="{B4A55DA0-D537-4F9A-A96A-206D950DE888}" presName="bgRect" presStyleLbl="bgAccFollowNode1" presStyleIdx="0" presStyleCnt="4"/>
      <dgm:spPr/>
    </dgm:pt>
    <dgm:pt modelId="{A401024C-857A-3742-92F7-DDC5FF8C9A6D}" type="pres">
      <dgm:prSet presAssocID="{C78368A8-9612-45FF-BF42-5DF1B05E343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BF81B61-43D6-6A40-969F-601BB7E4DEE7}" type="pres">
      <dgm:prSet presAssocID="{B4A55DA0-D537-4F9A-A96A-206D950DE888}" presName="bottomLine" presStyleLbl="alignNode1" presStyleIdx="1" presStyleCnt="8">
        <dgm:presLayoutVars/>
      </dgm:prSet>
      <dgm:spPr/>
    </dgm:pt>
    <dgm:pt modelId="{8D352ACD-39F3-5746-B1C6-5768095E015B}" type="pres">
      <dgm:prSet presAssocID="{B4A55DA0-D537-4F9A-A96A-206D950DE888}" presName="nodeText" presStyleLbl="bgAccFollowNode1" presStyleIdx="0" presStyleCnt="4">
        <dgm:presLayoutVars>
          <dgm:bulletEnabled val="1"/>
        </dgm:presLayoutVars>
      </dgm:prSet>
      <dgm:spPr/>
    </dgm:pt>
    <dgm:pt modelId="{6CFDFB64-9146-EE4F-B374-16A18BDA0A3D}" type="pres">
      <dgm:prSet presAssocID="{C78368A8-9612-45FF-BF42-5DF1B05E3437}" presName="sibTrans" presStyleCnt="0"/>
      <dgm:spPr/>
    </dgm:pt>
    <dgm:pt modelId="{144DAB64-3E89-9047-BC93-55C7D8BB7D39}" type="pres">
      <dgm:prSet presAssocID="{51B20956-D3F7-4822-BDF5-C5FC17434A52}" presName="compositeNode" presStyleCnt="0">
        <dgm:presLayoutVars>
          <dgm:bulletEnabled val="1"/>
        </dgm:presLayoutVars>
      </dgm:prSet>
      <dgm:spPr/>
    </dgm:pt>
    <dgm:pt modelId="{32B93B80-C473-8043-8358-73280B6FF820}" type="pres">
      <dgm:prSet presAssocID="{51B20956-D3F7-4822-BDF5-C5FC17434A52}" presName="bgRect" presStyleLbl="bgAccFollowNode1" presStyleIdx="1" presStyleCnt="4"/>
      <dgm:spPr/>
    </dgm:pt>
    <dgm:pt modelId="{F53644B7-E4CD-BA4D-9930-3033535591E3}" type="pres">
      <dgm:prSet presAssocID="{29384AB4-D752-41CB-9858-43116D6412E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A12CE4D-73DF-6749-8F2C-55B36F986FB5}" type="pres">
      <dgm:prSet presAssocID="{51B20956-D3F7-4822-BDF5-C5FC17434A52}" presName="bottomLine" presStyleLbl="alignNode1" presStyleIdx="3" presStyleCnt="8">
        <dgm:presLayoutVars/>
      </dgm:prSet>
      <dgm:spPr/>
    </dgm:pt>
    <dgm:pt modelId="{67609B28-8CEB-5E4B-B846-D3954DE0827C}" type="pres">
      <dgm:prSet presAssocID="{51B20956-D3F7-4822-BDF5-C5FC17434A52}" presName="nodeText" presStyleLbl="bgAccFollowNode1" presStyleIdx="1" presStyleCnt="4">
        <dgm:presLayoutVars>
          <dgm:bulletEnabled val="1"/>
        </dgm:presLayoutVars>
      </dgm:prSet>
      <dgm:spPr/>
    </dgm:pt>
    <dgm:pt modelId="{2B7B08F4-5404-7B44-A810-FC3F5D6DD758}" type="pres">
      <dgm:prSet presAssocID="{29384AB4-D752-41CB-9858-43116D6412EC}" presName="sibTrans" presStyleCnt="0"/>
      <dgm:spPr/>
    </dgm:pt>
    <dgm:pt modelId="{7A913FF0-D7B7-A949-BD39-261C3AB01269}" type="pres">
      <dgm:prSet presAssocID="{49F26AC4-9B33-4631-9B8C-92FA64733C20}" presName="compositeNode" presStyleCnt="0">
        <dgm:presLayoutVars>
          <dgm:bulletEnabled val="1"/>
        </dgm:presLayoutVars>
      </dgm:prSet>
      <dgm:spPr/>
    </dgm:pt>
    <dgm:pt modelId="{0D44AC74-5C85-FC4A-9D74-BCD4956FCA91}" type="pres">
      <dgm:prSet presAssocID="{49F26AC4-9B33-4631-9B8C-92FA64733C20}" presName="bgRect" presStyleLbl="bgAccFollowNode1" presStyleIdx="2" presStyleCnt="4"/>
      <dgm:spPr/>
    </dgm:pt>
    <dgm:pt modelId="{8AFB3681-13EE-1544-B5A1-BF90B569B3E6}" type="pres">
      <dgm:prSet presAssocID="{C8027C38-2214-47BC-A081-CC8CD96E3207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449331E-1B11-3141-ADBA-73DEF6C17A26}" type="pres">
      <dgm:prSet presAssocID="{49F26AC4-9B33-4631-9B8C-92FA64733C20}" presName="bottomLine" presStyleLbl="alignNode1" presStyleIdx="5" presStyleCnt="8">
        <dgm:presLayoutVars/>
      </dgm:prSet>
      <dgm:spPr/>
    </dgm:pt>
    <dgm:pt modelId="{47586F9C-9B54-EB4F-96C8-9783A5315693}" type="pres">
      <dgm:prSet presAssocID="{49F26AC4-9B33-4631-9B8C-92FA64733C20}" presName="nodeText" presStyleLbl="bgAccFollowNode1" presStyleIdx="2" presStyleCnt="4">
        <dgm:presLayoutVars>
          <dgm:bulletEnabled val="1"/>
        </dgm:presLayoutVars>
      </dgm:prSet>
      <dgm:spPr/>
    </dgm:pt>
    <dgm:pt modelId="{2A7802F4-BEB6-EA47-8EED-D3DCE7800C9A}" type="pres">
      <dgm:prSet presAssocID="{C8027C38-2214-47BC-A081-CC8CD96E3207}" presName="sibTrans" presStyleCnt="0"/>
      <dgm:spPr/>
    </dgm:pt>
    <dgm:pt modelId="{D58E89CE-0696-9448-B843-D8CE17FB8E1F}" type="pres">
      <dgm:prSet presAssocID="{13C41905-E70A-2042-A000-B6D5BD2E9B3B}" presName="compositeNode" presStyleCnt="0">
        <dgm:presLayoutVars>
          <dgm:bulletEnabled val="1"/>
        </dgm:presLayoutVars>
      </dgm:prSet>
      <dgm:spPr/>
    </dgm:pt>
    <dgm:pt modelId="{27D11AC7-A0F6-A941-9745-7807865620AC}" type="pres">
      <dgm:prSet presAssocID="{13C41905-E70A-2042-A000-B6D5BD2E9B3B}" presName="bgRect" presStyleLbl="bgAccFollowNode1" presStyleIdx="3" presStyleCnt="4"/>
      <dgm:spPr/>
    </dgm:pt>
    <dgm:pt modelId="{F98F7200-0AA2-524B-8D77-69243813A5FA}" type="pres">
      <dgm:prSet presAssocID="{00EC4378-1CE3-2D4D-99C0-FBA948CA3A0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581505F-92FA-DB4D-A701-913FFA1DBE0C}" type="pres">
      <dgm:prSet presAssocID="{13C41905-E70A-2042-A000-B6D5BD2E9B3B}" presName="bottomLine" presStyleLbl="alignNode1" presStyleIdx="7" presStyleCnt="8">
        <dgm:presLayoutVars/>
      </dgm:prSet>
      <dgm:spPr/>
    </dgm:pt>
    <dgm:pt modelId="{A550224A-B7B9-EB4D-A768-06DB806025EB}" type="pres">
      <dgm:prSet presAssocID="{13C41905-E70A-2042-A000-B6D5BD2E9B3B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8E1D010-6A2F-934F-A3AA-27F7A736BFCD}" type="presOf" srcId="{C78368A8-9612-45FF-BF42-5DF1B05E3437}" destId="{A401024C-857A-3742-92F7-DDC5FF8C9A6D}" srcOrd="0" destOrd="0" presId="urn:microsoft.com/office/officeart/2016/7/layout/BasicLinearProcessNumbered#2"/>
    <dgm:cxn modelId="{C7A94612-31A8-4A43-867E-83B36AB575C4}" type="presOf" srcId="{49F26AC4-9B33-4631-9B8C-92FA64733C20}" destId="{47586F9C-9B54-EB4F-96C8-9783A5315693}" srcOrd="1" destOrd="0" presId="urn:microsoft.com/office/officeart/2016/7/layout/BasicLinearProcessNumbered#2"/>
    <dgm:cxn modelId="{64BD271C-EDB3-9746-9F45-94DC0380D1C2}" type="presOf" srcId="{13C41905-E70A-2042-A000-B6D5BD2E9B3B}" destId="{27D11AC7-A0F6-A941-9745-7807865620AC}" srcOrd="0" destOrd="0" presId="urn:microsoft.com/office/officeart/2016/7/layout/BasicLinearProcessNumbered#2"/>
    <dgm:cxn modelId="{D723361D-8E51-D041-B13D-382EF8CE38F4}" type="presOf" srcId="{B4A55DA0-D537-4F9A-A96A-206D950DE888}" destId="{8D352ACD-39F3-5746-B1C6-5768095E015B}" srcOrd="1" destOrd="0" presId="urn:microsoft.com/office/officeart/2016/7/layout/BasicLinearProcessNumbered#2"/>
    <dgm:cxn modelId="{248AB33B-594D-A148-B525-9331469110A1}" type="presOf" srcId="{51B20956-D3F7-4822-BDF5-C5FC17434A52}" destId="{67609B28-8CEB-5E4B-B846-D3954DE0827C}" srcOrd="1" destOrd="0" presId="urn:microsoft.com/office/officeart/2016/7/layout/BasicLinearProcessNumbered#2"/>
    <dgm:cxn modelId="{4DC53A3F-7AD0-4941-A3A9-E59C444470CD}" type="presOf" srcId="{B4A55DA0-D537-4F9A-A96A-206D950DE888}" destId="{F5531E6B-EE7E-C940-BBFC-AEA2CB55A651}" srcOrd="0" destOrd="0" presId="urn:microsoft.com/office/officeart/2016/7/layout/BasicLinearProcessNumbered#2"/>
    <dgm:cxn modelId="{5CB7244A-8D15-6344-95ED-96F24678AC89}" type="presOf" srcId="{00EC4378-1CE3-2D4D-99C0-FBA948CA3A04}" destId="{F98F7200-0AA2-524B-8D77-69243813A5FA}" srcOrd="0" destOrd="0" presId="urn:microsoft.com/office/officeart/2016/7/layout/BasicLinearProcessNumbered#2"/>
    <dgm:cxn modelId="{8C1D9580-0EB2-2544-83DE-6C4C15D05819}" type="presOf" srcId="{13C41905-E70A-2042-A000-B6D5BD2E9B3B}" destId="{A550224A-B7B9-EB4D-A768-06DB806025EB}" srcOrd="1" destOrd="0" presId="urn:microsoft.com/office/officeart/2016/7/layout/BasicLinearProcessNumbered#2"/>
    <dgm:cxn modelId="{ED722389-DD2C-6A41-BA55-B715B7D6365C}" type="presOf" srcId="{49F26AC4-9B33-4631-9B8C-92FA64733C20}" destId="{0D44AC74-5C85-FC4A-9D74-BCD4956FCA91}" srcOrd="0" destOrd="0" presId="urn:microsoft.com/office/officeart/2016/7/layout/BasicLinearProcessNumbered#2"/>
    <dgm:cxn modelId="{11907789-486E-4980-8F13-C16AC5ADA0AA}" srcId="{4BEE8537-3A9F-4D93-AAF8-BF7B064184B6}" destId="{B4A55DA0-D537-4F9A-A96A-206D950DE888}" srcOrd="0" destOrd="0" parTransId="{8684FDF0-66D5-481F-AB2A-7A982DF21ABB}" sibTransId="{C78368A8-9612-45FF-BF42-5DF1B05E3437}"/>
    <dgm:cxn modelId="{63EE6098-4EA4-644E-BD94-85BE7B929DD9}" type="presOf" srcId="{51B20956-D3F7-4822-BDF5-C5FC17434A52}" destId="{32B93B80-C473-8043-8358-73280B6FF820}" srcOrd="0" destOrd="0" presId="urn:microsoft.com/office/officeart/2016/7/layout/BasicLinearProcessNumbered#2"/>
    <dgm:cxn modelId="{662A89B5-CDFD-5148-9B48-AAD59E59944D}" type="presOf" srcId="{29384AB4-D752-41CB-9858-43116D6412EC}" destId="{F53644B7-E4CD-BA4D-9930-3033535591E3}" srcOrd="0" destOrd="0" presId="urn:microsoft.com/office/officeart/2016/7/layout/BasicLinearProcessNumbered#2"/>
    <dgm:cxn modelId="{97F98EE9-649F-44CC-86EE-EA16AD029262}" srcId="{4BEE8537-3A9F-4D93-AAF8-BF7B064184B6}" destId="{49F26AC4-9B33-4631-9B8C-92FA64733C20}" srcOrd="2" destOrd="0" parTransId="{C71DAFBC-A356-4890-8000-669EDD3CEFC4}" sibTransId="{C8027C38-2214-47BC-A081-CC8CD96E3207}"/>
    <dgm:cxn modelId="{31517CED-5020-9542-95F3-36AB2E7411FB}" type="presOf" srcId="{C8027C38-2214-47BC-A081-CC8CD96E3207}" destId="{8AFB3681-13EE-1544-B5A1-BF90B569B3E6}" srcOrd="0" destOrd="0" presId="urn:microsoft.com/office/officeart/2016/7/layout/BasicLinearProcessNumbered#2"/>
    <dgm:cxn modelId="{9C82E4ED-2409-434B-944B-A54981FAEC4A}" srcId="{4BEE8537-3A9F-4D93-AAF8-BF7B064184B6}" destId="{13C41905-E70A-2042-A000-B6D5BD2E9B3B}" srcOrd="3" destOrd="0" parTransId="{68EA095D-96D4-A544-9645-DBB49437BE2F}" sibTransId="{00EC4378-1CE3-2D4D-99C0-FBA948CA3A04}"/>
    <dgm:cxn modelId="{ADEF4FF2-2F66-B841-B31C-781FAA4AE60A}" type="presOf" srcId="{4BEE8537-3A9F-4D93-AAF8-BF7B064184B6}" destId="{E968CAFC-9F68-FE43-9748-2FF219222490}" srcOrd="0" destOrd="0" presId="urn:microsoft.com/office/officeart/2016/7/layout/BasicLinearProcessNumbered#2"/>
    <dgm:cxn modelId="{45CBEAF3-104A-4C8E-BC88-0EC46705423B}" srcId="{4BEE8537-3A9F-4D93-AAF8-BF7B064184B6}" destId="{51B20956-D3F7-4822-BDF5-C5FC17434A52}" srcOrd="1" destOrd="0" parTransId="{2B8637C9-1F9B-4875-A6E6-46F90CA90ADE}" sibTransId="{29384AB4-D752-41CB-9858-43116D6412EC}"/>
    <dgm:cxn modelId="{BF75C2E2-D74F-8142-8DC3-F762C2B63A16}" type="presParOf" srcId="{E968CAFC-9F68-FE43-9748-2FF219222490}" destId="{E2297464-C8F4-5D4F-B350-F315BE29858D}" srcOrd="0" destOrd="0" presId="urn:microsoft.com/office/officeart/2016/7/layout/BasicLinearProcessNumbered#2"/>
    <dgm:cxn modelId="{93CF6CE9-CCCB-8C45-A29C-AB0C9857F184}" type="presParOf" srcId="{E2297464-C8F4-5D4F-B350-F315BE29858D}" destId="{F5531E6B-EE7E-C940-BBFC-AEA2CB55A651}" srcOrd="0" destOrd="0" presId="urn:microsoft.com/office/officeart/2016/7/layout/BasicLinearProcessNumbered#2"/>
    <dgm:cxn modelId="{8A8EFED7-6C87-014C-9F6F-2B37D7A3D47B}" type="presParOf" srcId="{E2297464-C8F4-5D4F-B350-F315BE29858D}" destId="{A401024C-857A-3742-92F7-DDC5FF8C9A6D}" srcOrd="1" destOrd="0" presId="urn:microsoft.com/office/officeart/2016/7/layout/BasicLinearProcessNumbered#2"/>
    <dgm:cxn modelId="{223F46E8-AB34-4149-BDBF-00065ACA19ED}" type="presParOf" srcId="{E2297464-C8F4-5D4F-B350-F315BE29858D}" destId="{9BF81B61-43D6-6A40-969F-601BB7E4DEE7}" srcOrd="2" destOrd="0" presId="urn:microsoft.com/office/officeart/2016/7/layout/BasicLinearProcessNumbered#2"/>
    <dgm:cxn modelId="{C28F4C06-2490-B243-BB6A-F53A84BD2407}" type="presParOf" srcId="{E2297464-C8F4-5D4F-B350-F315BE29858D}" destId="{8D352ACD-39F3-5746-B1C6-5768095E015B}" srcOrd="3" destOrd="0" presId="urn:microsoft.com/office/officeart/2016/7/layout/BasicLinearProcessNumbered#2"/>
    <dgm:cxn modelId="{6021B8B1-8F33-4645-9A6B-41F290E654CF}" type="presParOf" srcId="{E968CAFC-9F68-FE43-9748-2FF219222490}" destId="{6CFDFB64-9146-EE4F-B374-16A18BDA0A3D}" srcOrd="1" destOrd="0" presId="urn:microsoft.com/office/officeart/2016/7/layout/BasicLinearProcessNumbered#2"/>
    <dgm:cxn modelId="{62468F63-8437-5840-99C6-F92B690570BB}" type="presParOf" srcId="{E968CAFC-9F68-FE43-9748-2FF219222490}" destId="{144DAB64-3E89-9047-BC93-55C7D8BB7D39}" srcOrd="2" destOrd="0" presId="urn:microsoft.com/office/officeart/2016/7/layout/BasicLinearProcessNumbered#2"/>
    <dgm:cxn modelId="{A9D2865B-7369-A746-B193-4C49A5FCA660}" type="presParOf" srcId="{144DAB64-3E89-9047-BC93-55C7D8BB7D39}" destId="{32B93B80-C473-8043-8358-73280B6FF820}" srcOrd="0" destOrd="0" presId="urn:microsoft.com/office/officeart/2016/7/layout/BasicLinearProcessNumbered#2"/>
    <dgm:cxn modelId="{8EA5759A-9757-FB4F-BD1C-FFB19E23D590}" type="presParOf" srcId="{144DAB64-3E89-9047-BC93-55C7D8BB7D39}" destId="{F53644B7-E4CD-BA4D-9930-3033535591E3}" srcOrd="1" destOrd="0" presId="urn:microsoft.com/office/officeart/2016/7/layout/BasicLinearProcessNumbered#2"/>
    <dgm:cxn modelId="{2B6B2126-CCEB-C94A-929F-10A9732B2086}" type="presParOf" srcId="{144DAB64-3E89-9047-BC93-55C7D8BB7D39}" destId="{DA12CE4D-73DF-6749-8F2C-55B36F986FB5}" srcOrd="2" destOrd="0" presId="urn:microsoft.com/office/officeart/2016/7/layout/BasicLinearProcessNumbered#2"/>
    <dgm:cxn modelId="{22CCF0C0-BDE5-FD4C-BAA6-554FAFF8DF68}" type="presParOf" srcId="{144DAB64-3E89-9047-BC93-55C7D8BB7D39}" destId="{67609B28-8CEB-5E4B-B846-D3954DE0827C}" srcOrd="3" destOrd="0" presId="urn:microsoft.com/office/officeart/2016/7/layout/BasicLinearProcessNumbered#2"/>
    <dgm:cxn modelId="{E0D98C00-375C-ED4F-8041-D001CC88E725}" type="presParOf" srcId="{E968CAFC-9F68-FE43-9748-2FF219222490}" destId="{2B7B08F4-5404-7B44-A810-FC3F5D6DD758}" srcOrd="3" destOrd="0" presId="urn:microsoft.com/office/officeart/2016/7/layout/BasicLinearProcessNumbered#2"/>
    <dgm:cxn modelId="{ECB20B46-8DC8-BA4D-A911-21F82D00F3A8}" type="presParOf" srcId="{E968CAFC-9F68-FE43-9748-2FF219222490}" destId="{7A913FF0-D7B7-A949-BD39-261C3AB01269}" srcOrd="4" destOrd="0" presId="urn:microsoft.com/office/officeart/2016/7/layout/BasicLinearProcessNumbered#2"/>
    <dgm:cxn modelId="{42D55C35-B69B-F340-AE07-F22790E443E9}" type="presParOf" srcId="{7A913FF0-D7B7-A949-BD39-261C3AB01269}" destId="{0D44AC74-5C85-FC4A-9D74-BCD4956FCA91}" srcOrd="0" destOrd="0" presId="urn:microsoft.com/office/officeart/2016/7/layout/BasicLinearProcessNumbered#2"/>
    <dgm:cxn modelId="{9FBEEF6E-86DF-284D-B50B-8DB09B086B70}" type="presParOf" srcId="{7A913FF0-D7B7-A949-BD39-261C3AB01269}" destId="{8AFB3681-13EE-1544-B5A1-BF90B569B3E6}" srcOrd="1" destOrd="0" presId="urn:microsoft.com/office/officeart/2016/7/layout/BasicLinearProcessNumbered#2"/>
    <dgm:cxn modelId="{1F2A94F4-E5DC-2847-8079-F05941491160}" type="presParOf" srcId="{7A913FF0-D7B7-A949-BD39-261C3AB01269}" destId="{7449331E-1B11-3141-ADBA-73DEF6C17A26}" srcOrd="2" destOrd="0" presId="urn:microsoft.com/office/officeart/2016/7/layout/BasicLinearProcessNumbered#2"/>
    <dgm:cxn modelId="{20DB4CE8-B8AA-1D4B-8FBE-9CEA9C9FF1F4}" type="presParOf" srcId="{7A913FF0-D7B7-A949-BD39-261C3AB01269}" destId="{47586F9C-9B54-EB4F-96C8-9783A5315693}" srcOrd="3" destOrd="0" presId="urn:microsoft.com/office/officeart/2016/7/layout/BasicLinearProcessNumbered#2"/>
    <dgm:cxn modelId="{91191685-0E00-3A4B-A8C8-E3361A812820}" type="presParOf" srcId="{E968CAFC-9F68-FE43-9748-2FF219222490}" destId="{2A7802F4-BEB6-EA47-8EED-D3DCE7800C9A}" srcOrd="5" destOrd="0" presId="urn:microsoft.com/office/officeart/2016/7/layout/BasicLinearProcessNumbered#2"/>
    <dgm:cxn modelId="{8927EF30-89A0-6140-B9C6-4CDBC30FA883}" type="presParOf" srcId="{E968CAFC-9F68-FE43-9748-2FF219222490}" destId="{D58E89CE-0696-9448-B843-D8CE17FB8E1F}" srcOrd="6" destOrd="0" presId="urn:microsoft.com/office/officeart/2016/7/layout/BasicLinearProcessNumbered#2"/>
    <dgm:cxn modelId="{A0AA3ADF-FBB3-4C47-9A4F-9002E0E8DD28}" type="presParOf" srcId="{D58E89CE-0696-9448-B843-D8CE17FB8E1F}" destId="{27D11AC7-A0F6-A941-9745-7807865620AC}" srcOrd="0" destOrd="0" presId="urn:microsoft.com/office/officeart/2016/7/layout/BasicLinearProcessNumbered#2"/>
    <dgm:cxn modelId="{78287DEB-B150-6247-B9D7-CFFD284DE775}" type="presParOf" srcId="{D58E89CE-0696-9448-B843-D8CE17FB8E1F}" destId="{F98F7200-0AA2-524B-8D77-69243813A5FA}" srcOrd="1" destOrd="0" presId="urn:microsoft.com/office/officeart/2016/7/layout/BasicLinearProcessNumbered#2"/>
    <dgm:cxn modelId="{1C721DC8-F0C9-B242-AF5F-E76910ED5DC0}" type="presParOf" srcId="{D58E89CE-0696-9448-B843-D8CE17FB8E1F}" destId="{C581505F-92FA-DB4D-A701-913FFA1DBE0C}" srcOrd="2" destOrd="0" presId="urn:microsoft.com/office/officeart/2016/7/layout/BasicLinearProcessNumbered#2"/>
    <dgm:cxn modelId="{7DA6A597-5E0B-B349-885B-FA7548453F5C}" type="presParOf" srcId="{D58E89CE-0696-9448-B843-D8CE17FB8E1F}" destId="{A550224A-B7B9-EB4D-A768-06DB806025EB}" srcOrd="3" destOrd="0" presId="urn:microsoft.com/office/officeart/2016/7/layout/BasicLinearProcessNumbered#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EE8537-3A9F-4D93-AAF8-BF7B064184B6}" type="doc">
      <dgm:prSet loTypeId="urn:microsoft.com/office/officeart/2016/7/layout/BasicLinearProcessNumbered#1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4A55DA0-D537-4F9A-A96A-206D950DE888}">
      <dgm:prSet/>
      <dgm:spPr/>
      <dgm:t>
        <a:bodyPr/>
        <a:lstStyle/>
        <a:p>
          <a:r>
            <a:rPr lang="en-US" b="0" i="0"/>
            <a:t>Define a normal vs. non-normal distribution and when it matters</a:t>
          </a:r>
          <a:endParaRPr lang="en-US"/>
        </a:p>
      </dgm:t>
    </dgm:pt>
    <dgm:pt modelId="{8684FDF0-66D5-481F-AB2A-7A982DF21ABB}" type="parTrans" cxnId="{11907789-486E-4980-8F13-C16AC5ADA0AA}">
      <dgm:prSet/>
      <dgm:spPr/>
      <dgm:t>
        <a:bodyPr/>
        <a:lstStyle/>
        <a:p>
          <a:endParaRPr lang="en-US"/>
        </a:p>
      </dgm:t>
    </dgm:pt>
    <dgm:pt modelId="{C78368A8-9612-45FF-BF42-5DF1B05E3437}" type="sibTrans" cxnId="{11907789-486E-4980-8F13-C16AC5ADA0A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1B20956-D3F7-4822-BDF5-C5FC17434A52}">
      <dgm:prSet/>
      <dgm:spPr/>
      <dgm:t>
        <a:bodyPr/>
        <a:lstStyle/>
        <a:p>
          <a:r>
            <a:rPr lang="en-US" b="0" i="0"/>
            <a:t>Understand how to determine skew in your dataset</a:t>
          </a:r>
          <a:endParaRPr lang="en-US"/>
        </a:p>
      </dgm:t>
    </dgm:pt>
    <dgm:pt modelId="{2B8637C9-1F9B-4875-A6E6-46F90CA90ADE}" type="parTrans" cxnId="{45CBEAF3-104A-4C8E-BC88-0EC46705423B}">
      <dgm:prSet/>
      <dgm:spPr/>
      <dgm:t>
        <a:bodyPr/>
        <a:lstStyle/>
        <a:p>
          <a:endParaRPr lang="en-US"/>
        </a:p>
      </dgm:t>
    </dgm:pt>
    <dgm:pt modelId="{29384AB4-D752-41CB-9858-43116D6412EC}" type="sibTrans" cxnId="{45CBEAF3-104A-4C8E-BC88-0EC46705423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9F26AC4-9B33-4631-9B8C-92FA64733C20}">
      <dgm:prSet/>
      <dgm:spPr/>
      <dgm:t>
        <a:bodyPr/>
        <a:lstStyle/>
        <a:p>
          <a:r>
            <a:rPr lang="en-US" b="0" i="0"/>
            <a:t>Develop a toolbox of how to deal with skewed data</a:t>
          </a:r>
          <a:endParaRPr lang="en-US"/>
        </a:p>
      </dgm:t>
    </dgm:pt>
    <dgm:pt modelId="{C71DAFBC-A356-4890-8000-669EDD3CEFC4}" type="parTrans" cxnId="{97F98EE9-649F-44CC-86EE-EA16AD029262}">
      <dgm:prSet/>
      <dgm:spPr/>
      <dgm:t>
        <a:bodyPr/>
        <a:lstStyle/>
        <a:p>
          <a:endParaRPr lang="en-US"/>
        </a:p>
      </dgm:t>
    </dgm:pt>
    <dgm:pt modelId="{C8027C38-2214-47BC-A081-CC8CD96E3207}" type="sibTrans" cxnId="{97F98EE9-649F-44CC-86EE-EA16AD02926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3C41905-E70A-2042-A000-B6D5BD2E9B3B}">
      <dgm:prSet phldrT="[Text]"/>
      <dgm:spPr/>
      <dgm:t>
        <a:bodyPr/>
        <a:lstStyle/>
        <a:p>
          <a:r>
            <a:rPr lang="en-US" dirty="0"/>
            <a:t>Understand what to do if normalization fails.</a:t>
          </a:r>
        </a:p>
      </dgm:t>
    </dgm:pt>
    <dgm:pt modelId="{68EA095D-96D4-A544-9645-DBB49437BE2F}" type="parTrans" cxnId="{9C82E4ED-2409-434B-944B-A54981FAEC4A}">
      <dgm:prSet/>
      <dgm:spPr/>
    </dgm:pt>
    <dgm:pt modelId="{00EC4378-1CE3-2D4D-99C0-FBA948CA3A04}" type="sibTrans" cxnId="{9C82E4ED-2409-434B-944B-A54981FAEC4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968CAFC-9F68-FE43-9748-2FF219222490}" type="pres">
      <dgm:prSet presAssocID="{4BEE8537-3A9F-4D93-AAF8-BF7B064184B6}" presName="Name0" presStyleCnt="0">
        <dgm:presLayoutVars>
          <dgm:animLvl val="lvl"/>
          <dgm:resizeHandles val="exact"/>
        </dgm:presLayoutVars>
      </dgm:prSet>
      <dgm:spPr/>
    </dgm:pt>
    <dgm:pt modelId="{E2297464-C8F4-5D4F-B350-F315BE29858D}" type="pres">
      <dgm:prSet presAssocID="{B4A55DA0-D537-4F9A-A96A-206D950DE888}" presName="compositeNode" presStyleCnt="0">
        <dgm:presLayoutVars>
          <dgm:bulletEnabled val="1"/>
        </dgm:presLayoutVars>
      </dgm:prSet>
      <dgm:spPr/>
    </dgm:pt>
    <dgm:pt modelId="{F5531E6B-EE7E-C940-BBFC-AEA2CB55A651}" type="pres">
      <dgm:prSet presAssocID="{B4A55DA0-D537-4F9A-A96A-206D950DE888}" presName="bgRect" presStyleLbl="bgAccFollowNode1" presStyleIdx="0" presStyleCnt="4"/>
      <dgm:spPr/>
    </dgm:pt>
    <dgm:pt modelId="{A401024C-857A-3742-92F7-DDC5FF8C9A6D}" type="pres">
      <dgm:prSet presAssocID="{C78368A8-9612-45FF-BF42-5DF1B05E343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BF81B61-43D6-6A40-969F-601BB7E4DEE7}" type="pres">
      <dgm:prSet presAssocID="{B4A55DA0-D537-4F9A-A96A-206D950DE888}" presName="bottomLine" presStyleLbl="alignNode1" presStyleIdx="1" presStyleCnt="8">
        <dgm:presLayoutVars/>
      </dgm:prSet>
      <dgm:spPr/>
    </dgm:pt>
    <dgm:pt modelId="{8D352ACD-39F3-5746-B1C6-5768095E015B}" type="pres">
      <dgm:prSet presAssocID="{B4A55DA0-D537-4F9A-A96A-206D950DE888}" presName="nodeText" presStyleLbl="bgAccFollowNode1" presStyleIdx="0" presStyleCnt="4">
        <dgm:presLayoutVars>
          <dgm:bulletEnabled val="1"/>
        </dgm:presLayoutVars>
      </dgm:prSet>
      <dgm:spPr/>
    </dgm:pt>
    <dgm:pt modelId="{6CFDFB64-9146-EE4F-B374-16A18BDA0A3D}" type="pres">
      <dgm:prSet presAssocID="{C78368A8-9612-45FF-BF42-5DF1B05E3437}" presName="sibTrans" presStyleCnt="0"/>
      <dgm:spPr/>
    </dgm:pt>
    <dgm:pt modelId="{144DAB64-3E89-9047-BC93-55C7D8BB7D39}" type="pres">
      <dgm:prSet presAssocID="{51B20956-D3F7-4822-BDF5-C5FC17434A52}" presName="compositeNode" presStyleCnt="0">
        <dgm:presLayoutVars>
          <dgm:bulletEnabled val="1"/>
        </dgm:presLayoutVars>
      </dgm:prSet>
      <dgm:spPr/>
    </dgm:pt>
    <dgm:pt modelId="{32B93B80-C473-8043-8358-73280B6FF820}" type="pres">
      <dgm:prSet presAssocID="{51B20956-D3F7-4822-BDF5-C5FC17434A52}" presName="bgRect" presStyleLbl="bgAccFollowNode1" presStyleIdx="1" presStyleCnt="4"/>
      <dgm:spPr/>
    </dgm:pt>
    <dgm:pt modelId="{F53644B7-E4CD-BA4D-9930-3033535591E3}" type="pres">
      <dgm:prSet presAssocID="{29384AB4-D752-41CB-9858-43116D6412E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A12CE4D-73DF-6749-8F2C-55B36F986FB5}" type="pres">
      <dgm:prSet presAssocID="{51B20956-D3F7-4822-BDF5-C5FC17434A52}" presName="bottomLine" presStyleLbl="alignNode1" presStyleIdx="3" presStyleCnt="8">
        <dgm:presLayoutVars/>
      </dgm:prSet>
      <dgm:spPr/>
    </dgm:pt>
    <dgm:pt modelId="{67609B28-8CEB-5E4B-B846-D3954DE0827C}" type="pres">
      <dgm:prSet presAssocID="{51B20956-D3F7-4822-BDF5-C5FC17434A52}" presName="nodeText" presStyleLbl="bgAccFollowNode1" presStyleIdx="1" presStyleCnt="4">
        <dgm:presLayoutVars>
          <dgm:bulletEnabled val="1"/>
        </dgm:presLayoutVars>
      </dgm:prSet>
      <dgm:spPr/>
    </dgm:pt>
    <dgm:pt modelId="{2B7B08F4-5404-7B44-A810-FC3F5D6DD758}" type="pres">
      <dgm:prSet presAssocID="{29384AB4-D752-41CB-9858-43116D6412EC}" presName="sibTrans" presStyleCnt="0"/>
      <dgm:spPr/>
    </dgm:pt>
    <dgm:pt modelId="{7A913FF0-D7B7-A949-BD39-261C3AB01269}" type="pres">
      <dgm:prSet presAssocID="{49F26AC4-9B33-4631-9B8C-92FA64733C20}" presName="compositeNode" presStyleCnt="0">
        <dgm:presLayoutVars>
          <dgm:bulletEnabled val="1"/>
        </dgm:presLayoutVars>
      </dgm:prSet>
      <dgm:spPr/>
    </dgm:pt>
    <dgm:pt modelId="{0D44AC74-5C85-FC4A-9D74-BCD4956FCA91}" type="pres">
      <dgm:prSet presAssocID="{49F26AC4-9B33-4631-9B8C-92FA64733C20}" presName="bgRect" presStyleLbl="bgAccFollowNode1" presStyleIdx="2" presStyleCnt="4"/>
      <dgm:spPr/>
    </dgm:pt>
    <dgm:pt modelId="{8AFB3681-13EE-1544-B5A1-BF90B569B3E6}" type="pres">
      <dgm:prSet presAssocID="{C8027C38-2214-47BC-A081-CC8CD96E3207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449331E-1B11-3141-ADBA-73DEF6C17A26}" type="pres">
      <dgm:prSet presAssocID="{49F26AC4-9B33-4631-9B8C-92FA64733C20}" presName="bottomLine" presStyleLbl="alignNode1" presStyleIdx="5" presStyleCnt="8">
        <dgm:presLayoutVars/>
      </dgm:prSet>
      <dgm:spPr/>
    </dgm:pt>
    <dgm:pt modelId="{47586F9C-9B54-EB4F-96C8-9783A5315693}" type="pres">
      <dgm:prSet presAssocID="{49F26AC4-9B33-4631-9B8C-92FA64733C20}" presName="nodeText" presStyleLbl="bgAccFollowNode1" presStyleIdx="2" presStyleCnt="4">
        <dgm:presLayoutVars>
          <dgm:bulletEnabled val="1"/>
        </dgm:presLayoutVars>
      </dgm:prSet>
      <dgm:spPr/>
    </dgm:pt>
    <dgm:pt modelId="{2A7802F4-BEB6-EA47-8EED-D3DCE7800C9A}" type="pres">
      <dgm:prSet presAssocID="{C8027C38-2214-47BC-A081-CC8CD96E3207}" presName="sibTrans" presStyleCnt="0"/>
      <dgm:spPr/>
    </dgm:pt>
    <dgm:pt modelId="{D58E89CE-0696-9448-B843-D8CE17FB8E1F}" type="pres">
      <dgm:prSet presAssocID="{13C41905-E70A-2042-A000-B6D5BD2E9B3B}" presName="compositeNode" presStyleCnt="0">
        <dgm:presLayoutVars>
          <dgm:bulletEnabled val="1"/>
        </dgm:presLayoutVars>
      </dgm:prSet>
      <dgm:spPr/>
    </dgm:pt>
    <dgm:pt modelId="{27D11AC7-A0F6-A941-9745-7807865620AC}" type="pres">
      <dgm:prSet presAssocID="{13C41905-E70A-2042-A000-B6D5BD2E9B3B}" presName="bgRect" presStyleLbl="bgAccFollowNode1" presStyleIdx="3" presStyleCnt="4"/>
      <dgm:spPr/>
    </dgm:pt>
    <dgm:pt modelId="{F98F7200-0AA2-524B-8D77-69243813A5FA}" type="pres">
      <dgm:prSet presAssocID="{00EC4378-1CE3-2D4D-99C0-FBA948CA3A0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581505F-92FA-DB4D-A701-913FFA1DBE0C}" type="pres">
      <dgm:prSet presAssocID="{13C41905-E70A-2042-A000-B6D5BD2E9B3B}" presName="bottomLine" presStyleLbl="alignNode1" presStyleIdx="7" presStyleCnt="8">
        <dgm:presLayoutVars/>
      </dgm:prSet>
      <dgm:spPr/>
    </dgm:pt>
    <dgm:pt modelId="{A550224A-B7B9-EB4D-A768-06DB806025EB}" type="pres">
      <dgm:prSet presAssocID="{13C41905-E70A-2042-A000-B6D5BD2E9B3B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8E1D010-6A2F-934F-A3AA-27F7A736BFCD}" type="presOf" srcId="{C78368A8-9612-45FF-BF42-5DF1B05E3437}" destId="{A401024C-857A-3742-92F7-DDC5FF8C9A6D}" srcOrd="0" destOrd="0" presId="urn:microsoft.com/office/officeart/2016/7/layout/BasicLinearProcessNumbered#1"/>
    <dgm:cxn modelId="{C7A94612-31A8-4A43-867E-83B36AB575C4}" type="presOf" srcId="{49F26AC4-9B33-4631-9B8C-92FA64733C20}" destId="{47586F9C-9B54-EB4F-96C8-9783A5315693}" srcOrd="1" destOrd="0" presId="urn:microsoft.com/office/officeart/2016/7/layout/BasicLinearProcessNumbered#1"/>
    <dgm:cxn modelId="{64BD271C-EDB3-9746-9F45-94DC0380D1C2}" type="presOf" srcId="{13C41905-E70A-2042-A000-B6D5BD2E9B3B}" destId="{27D11AC7-A0F6-A941-9745-7807865620AC}" srcOrd="0" destOrd="0" presId="urn:microsoft.com/office/officeart/2016/7/layout/BasicLinearProcessNumbered#1"/>
    <dgm:cxn modelId="{D723361D-8E51-D041-B13D-382EF8CE38F4}" type="presOf" srcId="{B4A55DA0-D537-4F9A-A96A-206D950DE888}" destId="{8D352ACD-39F3-5746-B1C6-5768095E015B}" srcOrd="1" destOrd="0" presId="urn:microsoft.com/office/officeart/2016/7/layout/BasicLinearProcessNumbered#1"/>
    <dgm:cxn modelId="{248AB33B-594D-A148-B525-9331469110A1}" type="presOf" srcId="{51B20956-D3F7-4822-BDF5-C5FC17434A52}" destId="{67609B28-8CEB-5E4B-B846-D3954DE0827C}" srcOrd="1" destOrd="0" presId="urn:microsoft.com/office/officeart/2016/7/layout/BasicLinearProcessNumbered#1"/>
    <dgm:cxn modelId="{4DC53A3F-7AD0-4941-A3A9-E59C444470CD}" type="presOf" srcId="{B4A55DA0-D537-4F9A-A96A-206D950DE888}" destId="{F5531E6B-EE7E-C940-BBFC-AEA2CB55A651}" srcOrd="0" destOrd="0" presId="urn:microsoft.com/office/officeart/2016/7/layout/BasicLinearProcessNumbered#1"/>
    <dgm:cxn modelId="{5CB7244A-8D15-6344-95ED-96F24678AC89}" type="presOf" srcId="{00EC4378-1CE3-2D4D-99C0-FBA948CA3A04}" destId="{F98F7200-0AA2-524B-8D77-69243813A5FA}" srcOrd="0" destOrd="0" presId="urn:microsoft.com/office/officeart/2016/7/layout/BasicLinearProcessNumbered#1"/>
    <dgm:cxn modelId="{8C1D9580-0EB2-2544-83DE-6C4C15D05819}" type="presOf" srcId="{13C41905-E70A-2042-A000-B6D5BD2E9B3B}" destId="{A550224A-B7B9-EB4D-A768-06DB806025EB}" srcOrd="1" destOrd="0" presId="urn:microsoft.com/office/officeart/2016/7/layout/BasicLinearProcessNumbered#1"/>
    <dgm:cxn modelId="{ED722389-DD2C-6A41-BA55-B715B7D6365C}" type="presOf" srcId="{49F26AC4-9B33-4631-9B8C-92FA64733C20}" destId="{0D44AC74-5C85-FC4A-9D74-BCD4956FCA91}" srcOrd="0" destOrd="0" presId="urn:microsoft.com/office/officeart/2016/7/layout/BasicLinearProcessNumbered#1"/>
    <dgm:cxn modelId="{11907789-486E-4980-8F13-C16AC5ADA0AA}" srcId="{4BEE8537-3A9F-4D93-AAF8-BF7B064184B6}" destId="{B4A55DA0-D537-4F9A-A96A-206D950DE888}" srcOrd="0" destOrd="0" parTransId="{8684FDF0-66D5-481F-AB2A-7A982DF21ABB}" sibTransId="{C78368A8-9612-45FF-BF42-5DF1B05E3437}"/>
    <dgm:cxn modelId="{63EE6098-4EA4-644E-BD94-85BE7B929DD9}" type="presOf" srcId="{51B20956-D3F7-4822-BDF5-C5FC17434A52}" destId="{32B93B80-C473-8043-8358-73280B6FF820}" srcOrd="0" destOrd="0" presId="urn:microsoft.com/office/officeart/2016/7/layout/BasicLinearProcessNumbered#1"/>
    <dgm:cxn modelId="{662A89B5-CDFD-5148-9B48-AAD59E59944D}" type="presOf" srcId="{29384AB4-D752-41CB-9858-43116D6412EC}" destId="{F53644B7-E4CD-BA4D-9930-3033535591E3}" srcOrd="0" destOrd="0" presId="urn:microsoft.com/office/officeart/2016/7/layout/BasicLinearProcessNumbered#1"/>
    <dgm:cxn modelId="{97F98EE9-649F-44CC-86EE-EA16AD029262}" srcId="{4BEE8537-3A9F-4D93-AAF8-BF7B064184B6}" destId="{49F26AC4-9B33-4631-9B8C-92FA64733C20}" srcOrd="2" destOrd="0" parTransId="{C71DAFBC-A356-4890-8000-669EDD3CEFC4}" sibTransId="{C8027C38-2214-47BC-A081-CC8CD96E3207}"/>
    <dgm:cxn modelId="{31517CED-5020-9542-95F3-36AB2E7411FB}" type="presOf" srcId="{C8027C38-2214-47BC-A081-CC8CD96E3207}" destId="{8AFB3681-13EE-1544-B5A1-BF90B569B3E6}" srcOrd="0" destOrd="0" presId="urn:microsoft.com/office/officeart/2016/7/layout/BasicLinearProcessNumbered#1"/>
    <dgm:cxn modelId="{9C82E4ED-2409-434B-944B-A54981FAEC4A}" srcId="{4BEE8537-3A9F-4D93-AAF8-BF7B064184B6}" destId="{13C41905-E70A-2042-A000-B6D5BD2E9B3B}" srcOrd="3" destOrd="0" parTransId="{68EA095D-96D4-A544-9645-DBB49437BE2F}" sibTransId="{00EC4378-1CE3-2D4D-99C0-FBA948CA3A04}"/>
    <dgm:cxn modelId="{ADEF4FF2-2F66-B841-B31C-781FAA4AE60A}" type="presOf" srcId="{4BEE8537-3A9F-4D93-AAF8-BF7B064184B6}" destId="{E968CAFC-9F68-FE43-9748-2FF219222490}" srcOrd="0" destOrd="0" presId="urn:microsoft.com/office/officeart/2016/7/layout/BasicLinearProcessNumbered#1"/>
    <dgm:cxn modelId="{45CBEAF3-104A-4C8E-BC88-0EC46705423B}" srcId="{4BEE8537-3A9F-4D93-AAF8-BF7B064184B6}" destId="{51B20956-D3F7-4822-BDF5-C5FC17434A52}" srcOrd="1" destOrd="0" parTransId="{2B8637C9-1F9B-4875-A6E6-46F90CA90ADE}" sibTransId="{29384AB4-D752-41CB-9858-43116D6412EC}"/>
    <dgm:cxn modelId="{BF75C2E2-D74F-8142-8DC3-F762C2B63A16}" type="presParOf" srcId="{E968CAFC-9F68-FE43-9748-2FF219222490}" destId="{E2297464-C8F4-5D4F-B350-F315BE29858D}" srcOrd="0" destOrd="0" presId="urn:microsoft.com/office/officeart/2016/7/layout/BasicLinearProcessNumbered#1"/>
    <dgm:cxn modelId="{93CF6CE9-CCCB-8C45-A29C-AB0C9857F184}" type="presParOf" srcId="{E2297464-C8F4-5D4F-B350-F315BE29858D}" destId="{F5531E6B-EE7E-C940-BBFC-AEA2CB55A651}" srcOrd="0" destOrd="0" presId="urn:microsoft.com/office/officeart/2016/7/layout/BasicLinearProcessNumbered#1"/>
    <dgm:cxn modelId="{8A8EFED7-6C87-014C-9F6F-2B37D7A3D47B}" type="presParOf" srcId="{E2297464-C8F4-5D4F-B350-F315BE29858D}" destId="{A401024C-857A-3742-92F7-DDC5FF8C9A6D}" srcOrd="1" destOrd="0" presId="urn:microsoft.com/office/officeart/2016/7/layout/BasicLinearProcessNumbered#1"/>
    <dgm:cxn modelId="{223F46E8-AB34-4149-BDBF-00065ACA19ED}" type="presParOf" srcId="{E2297464-C8F4-5D4F-B350-F315BE29858D}" destId="{9BF81B61-43D6-6A40-969F-601BB7E4DEE7}" srcOrd="2" destOrd="0" presId="urn:microsoft.com/office/officeart/2016/7/layout/BasicLinearProcessNumbered#1"/>
    <dgm:cxn modelId="{C28F4C06-2490-B243-BB6A-F53A84BD2407}" type="presParOf" srcId="{E2297464-C8F4-5D4F-B350-F315BE29858D}" destId="{8D352ACD-39F3-5746-B1C6-5768095E015B}" srcOrd="3" destOrd="0" presId="urn:microsoft.com/office/officeart/2016/7/layout/BasicLinearProcessNumbered#1"/>
    <dgm:cxn modelId="{6021B8B1-8F33-4645-9A6B-41F290E654CF}" type="presParOf" srcId="{E968CAFC-9F68-FE43-9748-2FF219222490}" destId="{6CFDFB64-9146-EE4F-B374-16A18BDA0A3D}" srcOrd="1" destOrd="0" presId="urn:microsoft.com/office/officeart/2016/7/layout/BasicLinearProcessNumbered#1"/>
    <dgm:cxn modelId="{62468F63-8437-5840-99C6-F92B690570BB}" type="presParOf" srcId="{E968CAFC-9F68-FE43-9748-2FF219222490}" destId="{144DAB64-3E89-9047-BC93-55C7D8BB7D39}" srcOrd="2" destOrd="0" presId="urn:microsoft.com/office/officeart/2016/7/layout/BasicLinearProcessNumbered#1"/>
    <dgm:cxn modelId="{A9D2865B-7369-A746-B193-4C49A5FCA660}" type="presParOf" srcId="{144DAB64-3E89-9047-BC93-55C7D8BB7D39}" destId="{32B93B80-C473-8043-8358-73280B6FF820}" srcOrd="0" destOrd="0" presId="urn:microsoft.com/office/officeart/2016/7/layout/BasicLinearProcessNumbered#1"/>
    <dgm:cxn modelId="{8EA5759A-9757-FB4F-BD1C-FFB19E23D590}" type="presParOf" srcId="{144DAB64-3E89-9047-BC93-55C7D8BB7D39}" destId="{F53644B7-E4CD-BA4D-9930-3033535591E3}" srcOrd="1" destOrd="0" presId="urn:microsoft.com/office/officeart/2016/7/layout/BasicLinearProcessNumbered#1"/>
    <dgm:cxn modelId="{2B6B2126-CCEB-C94A-929F-10A9732B2086}" type="presParOf" srcId="{144DAB64-3E89-9047-BC93-55C7D8BB7D39}" destId="{DA12CE4D-73DF-6749-8F2C-55B36F986FB5}" srcOrd="2" destOrd="0" presId="urn:microsoft.com/office/officeart/2016/7/layout/BasicLinearProcessNumbered#1"/>
    <dgm:cxn modelId="{22CCF0C0-BDE5-FD4C-BAA6-554FAFF8DF68}" type="presParOf" srcId="{144DAB64-3E89-9047-BC93-55C7D8BB7D39}" destId="{67609B28-8CEB-5E4B-B846-D3954DE0827C}" srcOrd="3" destOrd="0" presId="urn:microsoft.com/office/officeart/2016/7/layout/BasicLinearProcessNumbered#1"/>
    <dgm:cxn modelId="{E0D98C00-375C-ED4F-8041-D001CC88E725}" type="presParOf" srcId="{E968CAFC-9F68-FE43-9748-2FF219222490}" destId="{2B7B08F4-5404-7B44-A810-FC3F5D6DD758}" srcOrd="3" destOrd="0" presId="urn:microsoft.com/office/officeart/2016/7/layout/BasicLinearProcessNumbered#1"/>
    <dgm:cxn modelId="{ECB20B46-8DC8-BA4D-A911-21F82D00F3A8}" type="presParOf" srcId="{E968CAFC-9F68-FE43-9748-2FF219222490}" destId="{7A913FF0-D7B7-A949-BD39-261C3AB01269}" srcOrd="4" destOrd="0" presId="urn:microsoft.com/office/officeart/2016/7/layout/BasicLinearProcessNumbered#1"/>
    <dgm:cxn modelId="{42D55C35-B69B-F340-AE07-F22790E443E9}" type="presParOf" srcId="{7A913FF0-D7B7-A949-BD39-261C3AB01269}" destId="{0D44AC74-5C85-FC4A-9D74-BCD4956FCA91}" srcOrd="0" destOrd="0" presId="urn:microsoft.com/office/officeart/2016/7/layout/BasicLinearProcessNumbered#1"/>
    <dgm:cxn modelId="{9FBEEF6E-86DF-284D-B50B-8DB09B086B70}" type="presParOf" srcId="{7A913FF0-D7B7-A949-BD39-261C3AB01269}" destId="{8AFB3681-13EE-1544-B5A1-BF90B569B3E6}" srcOrd="1" destOrd="0" presId="urn:microsoft.com/office/officeart/2016/7/layout/BasicLinearProcessNumbered#1"/>
    <dgm:cxn modelId="{1F2A94F4-E5DC-2847-8079-F05941491160}" type="presParOf" srcId="{7A913FF0-D7B7-A949-BD39-261C3AB01269}" destId="{7449331E-1B11-3141-ADBA-73DEF6C17A26}" srcOrd="2" destOrd="0" presId="urn:microsoft.com/office/officeart/2016/7/layout/BasicLinearProcessNumbered#1"/>
    <dgm:cxn modelId="{20DB4CE8-B8AA-1D4B-8FBE-9CEA9C9FF1F4}" type="presParOf" srcId="{7A913FF0-D7B7-A949-BD39-261C3AB01269}" destId="{47586F9C-9B54-EB4F-96C8-9783A5315693}" srcOrd="3" destOrd="0" presId="urn:microsoft.com/office/officeart/2016/7/layout/BasicLinearProcessNumbered#1"/>
    <dgm:cxn modelId="{91191685-0E00-3A4B-A8C8-E3361A812820}" type="presParOf" srcId="{E968CAFC-9F68-FE43-9748-2FF219222490}" destId="{2A7802F4-BEB6-EA47-8EED-D3DCE7800C9A}" srcOrd="5" destOrd="0" presId="urn:microsoft.com/office/officeart/2016/7/layout/BasicLinearProcessNumbered#1"/>
    <dgm:cxn modelId="{8927EF30-89A0-6140-B9C6-4CDBC30FA883}" type="presParOf" srcId="{E968CAFC-9F68-FE43-9748-2FF219222490}" destId="{D58E89CE-0696-9448-B843-D8CE17FB8E1F}" srcOrd="6" destOrd="0" presId="urn:microsoft.com/office/officeart/2016/7/layout/BasicLinearProcessNumbered#1"/>
    <dgm:cxn modelId="{A0AA3ADF-FBB3-4C47-9A4F-9002E0E8DD28}" type="presParOf" srcId="{D58E89CE-0696-9448-B843-D8CE17FB8E1F}" destId="{27D11AC7-A0F6-A941-9745-7807865620AC}" srcOrd="0" destOrd="0" presId="urn:microsoft.com/office/officeart/2016/7/layout/BasicLinearProcessNumbered#1"/>
    <dgm:cxn modelId="{78287DEB-B150-6247-B9D7-CFFD284DE775}" type="presParOf" srcId="{D58E89CE-0696-9448-B843-D8CE17FB8E1F}" destId="{F98F7200-0AA2-524B-8D77-69243813A5FA}" srcOrd="1" destOrd="0" presId="urn:microsoft.com/office/officeart/2016/7/layout/BasicLinearProcessNumbered#1"/>
    <dgm:cxn modelId="{1C721DC8-F0C9-B242-AF5F-E76910ED5DC0}" type="presParOf" srcId="{D58E89CE-0696-9448-B843-D8CE17FB8E1F}" destId="{C581505F-92FA-DB4D-A701-913FFA1DBE0C}" srcOrd="2" destOrd="0" presId="urn:microsoft.com/office/officeart/2016/7/layout/BasicLinearProcessNumbered#1"/>
    <dgm:cxn modelId="{7DA6A597-5E0B-B349-885B-FA7548453F5C}" type="presParOf" srcId="{D58E89CE-0696-9448-B843-D8CE17FB8E1F}" destId="{A550224A-B7B9-EB4D-A768-06DB806025EB}" srcOrd="3" destOrd="0" presId="urn:microsoft.com/office/officeart/2016/7/layout/BasicLinearProcessNumbered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531E6B-EE7E-C940-BBFC-AEA2CB55A651}">
      <dsp:nvSpPr>
        <dsp:cNvPr id="0" name=""/>
        <dsp:cNvSpPr/>
      </dsp:nvSpPr>
      <dsp:spPr>
        <a:xfrm>
          <a:off x="2819" y="145336"/>
          <a:ext cx="2237149" cy="31320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Define a normal vs. non-normal distribution and when it matters</a:t>
          </a:r>
          <a:endParaRPr lang="en-US" sz="1900" kern="1200"/>
        </a:p>
      </dsp:txBody>
      <dsp:txXfrm>
        <a:off x="2819" y="1335500"/>
        <a:ext cx="2237149" cy="1879205"/>
      </dsp:txXfrm>
    </dsp:sp>
    <dsp:sp modelId="{A401024C-857A-3742-92F7-DDC5FF8C9A6D}">
      <dsp:nvSpPr>
        <dsp:cNvPr id="0" name=""/>
        <dsp:cNvSpPr/>
      </dsp:nvSpPr>
      <dsp:spPr>
        <a:xfrm>
          <a:off x="651593" y="458537"/>
          <a:ext cx="939602" cy="93960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1</a:t>
          </a:r>
        </a:p>
      </dsp:txBody>
      <dsp:txXfrm>
        <a:off x="789195" y="596139"/>
        <a:ext cx="664398" cy="664398"/>
      </dsp:txXfrm>
    </dsp:sp>
    <dsp:sp modelId="{9BF81B61-43D6-6A40-969F-601BB7E4DEE7}">
      <dsp:nvSpPr>
        <dsp:cNvPr id="0" name=""/>
        <dsp:cNvSpPr/>
      </dsp:nvSpPr>
      <dsp:spPr>
        <a:xfrm>
          <a:off x="2819" y="3277274"/>
          <a:ext cx="2237149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B93B80-C473-8043-8358-73280B6FF820}">
      <dsp:nvSpPr>
        <dsp:cNvPr id="0" name=""/>
        <dsp:cNvSpPr/>
      </dsp:nvSpPr>
      <dsp:spPr>
        <a:xfrm>
          <a:off x="2463684" y="145336"/>
          <a:ext cx="2237149" cy="313200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Understand how to determine skew in your dataset</a:t>
          </a:r>
          <a:endParaRPr lang="en-US" sz="1900" kern="1200"/>
        </a:p>
      </dsp:txBody>
      <dsp:txXfrm>
        <a:off x="2463684" y="1335500"/>
        <a:ext cx="2237149" cy="1879205"/>
      </dsp:txXfrm>
    </dsp:sp>
    <dsp:sp modelId="{F53644B7-E4CD-BA4D-9930-3033535591E3}">
      <dsp:nvSpPr>
        <dsp:cNvPr id="0" name=""/>
        <dsp:cNvSpPr/>
      </dsp:nvSpPr>
      <dsp:spPr>
        <a:xfrm>
          <a:off x="3112457" y="458537"/>
          <a:ext cx="939602" cy="93960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2</a:t>
          </a:r>
        </a:p>
      </dsp:txBody>
      <dsp:txXfrm>
        <a:off x="3250059" y="596139"/>
        <a:ext cx="664398" cy="664398"/>
      </dsp:txXfrm>
    </dsp:sp>
    <dsp:sp modelId="{DA12CE4D-73DF-6749-8F2C-55B36F986FB5}">
      <dsp:nvSpPr>
        <dsp:cNvPr id="0" name=""/>
        <dsp:cNvSpPr/>
      </dsp:nvSpPr>
      <dsp:spPr>
        <a:xfrm>
          <a:off x="2463684" y="3277274"/>
          <a:ext cx="2237149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44AC74-5C85-FC4A-9D74-BCD4956FCA91}">
      <dsp:nvSpPr>
        <dsp:cNvPr id="0" name=""/>
        <dsp:cNvSpPr/>
      </dsp:nvSpPr>
      <dsp:spPr>
        <a:xfrm>
          <a:off x="4924548" y="145336"/>
          <a:ext cx="2237149" cy="313200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Develop a toolbox of how to deal with skewed data</a:t>
          </a:r>
          <a:endParaRPr lang="en-US" sz="1900" kern="1200"/>
        </a:p>
      </dsp:txBody>
      <dsp:txXfrm>
        <a:off x="4924548" y="1335500"/>
        <a:ext cx="2237149" cy="1879205"/>
      </dsp:txXfrm>
    </dsp:sp>
    <dsp:sp modelId="{8AFB3681-13EE-1544-B5A1-BF90B569B3E6}">
      <dsp:nvSpPr>
        <dsp:cNvPr id="0" name=""/>
        <dsp:cNvSpPr/>
      </dsp:nvSpPr>
      <dsp:spPr>
        <a:xfrm>
          <a:off x="5573322" y="458537"/>
          <a:ext cx="939602" cy="939602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3</a:t>
          </a:r>
        </a:p>
      </dsp:txBody>
      <dsp:txXfrm>
        <a:off x="5710924" y="596139"/>
        <a:ext cx="664398" cy="664398"/>
      </dsp:txXfrm>
    </dsp:sp>
    <dsp:sp modelId="{7449331E-1B11-3141-ADBA-73DEF6C17A26}">
      <dsp:nvSpPr>
        <dsp:cNvPr id="0" name=""/>
        <dsp:cNvSpPr/>
      </dsp:nvSpPr>
      <dsp:spPr>
        <a:xfrm>
          <a:off x="4924548" y="3277274"/>
          <a:ext cx="2237149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D11AC7-A0F6-A941-9745-7807865620AC}">
      <dsp:nvSpPr>
        <dsp:cNvPr id="0" name=""/>
        <dsp:cNvSpPr/>
      </dsp:nvSpPr>
      <dsp:spPr>
        <a:xfrm>
          <a:off x="7385413" y="145336"/>
          <a:ext cx="2237149" cy="313200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Understand what to do if normalization fails.</a:t>
          </a:r>
        </a:p>
      </dsp:txBody>
      <dsp:txXfrm>
        <a:off x="7385413" y="1335500"/>
        <a:ext cx="2237149" cy="1879205"/>
      </dsp:txXfrm>
    </dsp:sp>
    <dsp:sp modelId="{F98F7200-0AA2-524B-8D77-69243813A5FA}">
      <dsp:nvSpPr>
        <dsp:cNvPr id="0" name=""/>
        <dsp:cNvSpPr/>
      </dsp:nvSpPr>
      <dsp:spPr>
        <a:xfrm>
          <a:off x="8034186" y="458537"/>
          <a:ext cx="939602" cy="93960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4</a:t>
          </a:r>
        </a:p>
      </dsp:txBody>
      <dsp:txXfrm>
        <a:off x="8171788" y="596139"/>
        <a:ext cx="664398" cy="664398"/>
      </dsp:txXfrm>
    </dsp:sp>
    <dsp:sp modelId="{C581505F-92FA-DB4D-A701-913FFA1DBE0C}">
      <dsp:nvSpPr>
        <dsp:cNvPr id="0" name=""/>
        <dsp:cNvSpPr/>
      </dsp:nvSpPr>
      <dsp:spPr>
        <a:xfrm>
          <a:off x="7385413" y="3277274"/>
          <a:ext cx="2237149" cy="7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531E6B-EE7E-C940-BBFC-AEA2CB55A651}">
      <dsp:nvSpPr>
        <dsp:cNvPr id="0" name=""/>
        <dsp:cNvSpPr/>
      </dsp:nvSpPr>
      <dsp:spPr>
        <a:xfrm>
          <a:off x="2819" y="145336"/>
          <a:ext cx="2237149" cy="31320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Define a normal vs. non-normal distribution and when it matters</a:t>
          </a:r>
          <a:endParaRPr lang="en-US" sz="1900" kern="1200"/>
        </a:p>
      </dsp:txBody>
      <dsp:txXfrm>
        <a:off x="2819" y="1335500"/>
        <a:ext cx="2237149" cy="1879205"/>
      </dsp:txXfrm>
    </dsp:sp>
    <dsp:sp modelId="{A401024C-857A-3742-92F7-DDC5FF8C9A6D}">
      <dsp:nvSpPr>
        <dsp:cNvPr id="0" name=""/>
        <dsp:cNvSpPr/>
      </dsp:nvSpPr>
      <dsp:spPr>
        <a:xfrm>
          <a:off x="651593" y="458537"/>
          <a:ext cx="939602" cy="93960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1</a:t>
          </a:r>
        </a:p>
      </dsp:txBody>
      <dsp:txXfrm>
        <a:off x="789195" y="596139"/>
        <a:ext cx="664398" cy="664398"/>
      </dsp:txXfrm>
    </dsp:sp>
    <dsp:sp modelId="{9BF81B61-43D6-6A40-969F-601BB7E4DEE7}">
      <dsp:nvSpPr>
        <dsp:cNvPr id="0" name=""/>
        <dsp:cNvSpPr/>
      </dsp:nvSpPr>
      <dsp:spPr>
        <a:xfrm>
          <a:off x="2819" y="3277274"/>
          <a:ext cx="2237149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B93B80-C473-8043-8358-73280B6FF820}">
      <dsp:nvSpPr>
        <dsp:cNvPr id="0" name=""/>
        <dsp:cNvSpPr/>
      </dsp:nvSpPr>
      <dsp:spPr>
        <a:xfrm>
          <a:off x="2463684" y="145336"/>
          <a:ext cx="2237149" cy="313200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Understand how to determine skew in your dataset</a:t>
          </a:r>
          <a:endParaRPr lang="en-US" sz="1900" kern="1200"/>
        </a:p>
      </dsp:txBody>
      <dsp:txXfrm>
        <a:off x="2463684" y="1335500"/>
        <a:ext cx="2237149" cy="1879205"/>
      </dsp:txXfrm>
    </dsp:sp>
    <dsp:sp modelId="{F53644B7-E4CD-BA4D-9930-3033535591E3}">
      <dsp:nvSpPr>
        <dsp:cNvPr id="0" name=""/>
        <dsp:cNvSpPr/>
      </dsp:nvSpPr>
      <dsp:spPr>
        <a:xfrm>
          <a:off x="3112457" y="458537"/>
          <a:ext cx="939602" cy="93960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2</a:t>
          </a:r>
        </a:p>
      </dsp:txBody>
      <dsp:txXfrm>
        <a:off x="3250059" y="596139"/>
        <a:ext cx="664398" cy="664398"/>
      </dsp:txXfrm>
    </dsp:sp>
    <dsp:sp modelId="{DA12CE4D-73DF-6749-8F2C-55B36F986FB5}">
      <dsp:nvSpPr>
        <dsp:cNvPr id="0" name=""/>
        <dsp:cNvSpPr/>
      </dsp:nvSpPr>
      <dsp:spPr>
        <a:xfrm>
          <a:off x="2463684" y="3277274"/>
          <a:ext cx="2237149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44AC74-5C85-FC4A-9D74-BCD4956FCA91}">
      <dsp:nvSpPr>
        <dsp:cNvPr id="0" name=""/>
        <dsp:cNvSpPr/>
      </dsp:nvSpPr>
      <dsp:spPr>
        <a:xfrm>
          <a:off x="4924548" y="145336"/>
          <a:ext cx="2237149" cy="313200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Develop a toolbox of how to deal with skewed data</a:t>
          </a:r>
          <a:endParaRPr lang="en-US" sz="1900" kern="1200"/>
        </a:p>
      </dsp:txBody>
      <dsp:txXfrm>
        <a:off x="4924548" y="1335500"/>
        <a:ext cx="2237149" cy="1879205"/>
      </dsp:txXfrm>
    </dsp:sp>
    <dsp:sp modelId="{8AFB3681-13EE-1544-B5A1-BF90B569B3E6}">
      <dsp:nvSpPr>
        <dsp:cNvPr id="0" name=""/>
        <dsp:cNvSpPr/>
      </dsp:nvSpPr>
      <dsp:spPr>
        <a:xfrm>
          <a:off x="5573322" y="458537"/>
          <a:ext cx="939602" cy="939602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3</a:t>
          </a:r>
        </a:p>
      </dsp:txBody>
      <dsp:txXfrm>
        <a:off x="5710924" y="596139"/>
        <a:ext cx="664398" cy="664398"/>
      </dsp:txXfrm>
    </dsp:sp>
    <dsp:sp modelId="{7449331E-1B11-3141-ADBA-73DEF6C17A26}">
      <dsp:nvSpPr>
        <dsp:cNvPr id="0" name=""/>
        <dsp:cNvSpPr/>
      </dsp:nvSpPr>
      <dsp:spPr>
        <a:xfrm>
          <a:off x="4924548" y="3277274"/>
          <a:ext cx="2237149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D11AC7-A0F6-A941-9745-7807865620AC}">
      <dsp:nvSpPr>
        <dsp:cNvPr id="0" name=""/>
        <dsp:cNvSpPr/>
      </dsp:nvSpPr>
      <dsp:spPr>
        <a:xfrm>
          <a:off x="7385413" y="145336"/>
          <a:ext cx="2237149" cy="313200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17" tIns="330200" rIns="1744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Understand what to do if normalization fails.</a:t>
          </a:r>
        </a:p>
      </dsp:txBody>
      <dsp:txXfrm>
        <a:off x="7385413" y="1335500"/>
        <a:ext cx="2237149" cy="1879205"/>
      </dsp:txXfrm>
    </dsp:sp>
    <dsp:sp modelId="{F98F7200-0AA2-524B-8D77-69243813A5FA}">
      <dsp:nvSpPr>
        <dsp:cNvPr id="0" name=""/>
        <dsp:cNvSpPr/>
      </dsp:nvSpPr>
      <dsp:spPr>
        <a:xfrm>
          <a:off x="8034186" y="458537"/>
          <a:ext cx="939602" cy="93960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255" tIns="12700" rIns="73255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4</a:t>
          </a:r>
        </a:p>
      </dsp:txBody>
      <dsp:txXfrm>
        <a:off x="8171788" y="596139"/>
        <a:ext cx="664398" cy="664398"/>
      </dsp:txXfrm>
    </dsp:sp>
    <dsp:sp modelId="{C581505F-92FA-DB4D-A701-913FFA1DBE0C}">
      <dsp:nvSpPr>
        <dsp:cNvPr id="0" name=""/>
        <dsp:cNvSpPr/>
      </dsp:nvSpPr>
      <dsp:spPr>
        <a:xfrm>
          <a:off x="7385413" y="3277274"/>
          <a:ext cx="2237149" cy="7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#2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0410A790-9B50-0B47-8FDA-DDCEC97362F1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2F01FCCE-55AB-F348-AB66-D35E109864A7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A892C4A0-5C70-7E45-B123-11D0AB270378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#1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0410A790-9B50-0B47-8FDA-DDCEC97362F1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2F01FCCE-55AB-F348-AB66-D35E109864A7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A892C4A0-5C70-7E45-B123-11D0AB270378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2B525-617A-C241-8A56-D36B95741A5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159D7-3F9A-5C49-B0CF-E7444B3B4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standard normal distribution has a  mean is 0 and the standard deviation is 1. 68% of all values should fall within 1 SD of the mean, 95% of all values should fall within 2 SD of the mean. Values under the tails of the distribution are highly unlikely! We can calculate p-values by plotting our observed value on simulated normally distributed data ( if H0 is true) to see what the probability of getting our observed data is if H0 is true. </a:t>
            </a:r>
          </a:p>
          <a:p>
            <a:r>
              <a:rPr lang="en-US" dirty="0">
                <a:solidFill>
                  <a:srgbClr val="FFFFFF"/>
                </a:solidFill>
              </a:rPr>
              <a:t>. It can be used to calculate the probability of a certain value’s distance from the mean via the z-score.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41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Postiive</a:t>
            </a:r>
            <a:r>
              <a:rPr lang="en-US" dirty="0"/>
              <a:t> or right skewed data has a long tail to the right and negative or left skewed data has a long tail to the left. Note that in our skewed data we much different values that are less probably when compared to the </a:t>
            </a:r>
            <a:r>
              <a:rPr lang="en-US" dirty="0" err="1"/>
              <a:t>nomral</a:t>
            </a:r>
            <a:r>
              <a:rPr lang="en-US" dirty="0"/>
              <a:t> distribution. </a:t>
            </a:r>
            <a:r>
              <a:rPr lang="en-US" dirty="0" err="1"/>
              <a:t>Kurtosiss</a:t>
            </a:r>
            <a:r>
              <a:rPr lang="en-US" dirty="0"/>
              <a:t> is the measure of how the SD differs really, where slender distribution with long flat tails is called leptokurtic and a distribution that has short tails and a broad distribution is </a:t>
            </a:r>
            <a:r>
              <a:rPr lang="en-US" dirty="0" err="1"/>
              <a:t>lcalled</a:t>
            </a:r>
            <a:r>
              <a:rPr lang="en-US" dirty="0"/>
              <a:t> platykurtic.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98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ln() natural log in r instead of log10 because it is standard practice, easier to back transform and easier to scale.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2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Q-Q plots show you how much your data deviates from the normal distribution. If your data aligns perfectly with the normal distribution, the points will fall along the line.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Q-Q (quantile-quantile) plot compares your data’s distribution against a theoretical normal distribution. If your data is normal, the points fall along a straight diagonal line. Right-skewed data produces a curve that bows away from the line. Heavy-tailed data (more extreme values than expected) follows the line in the middle but curves off at both ends.</a:t>
            </a:r>
          </a:p>
          <a:p>
            <a:endParaRPr lang="en-US" dirty="0"/>
          </a:p>
          <a:p>
            <a:r>
              <a:rPr lang="en-US" dirty="0"/>
              <a:t>- Shapiro-wilks test - outputs can be sensitive to your sample size, more likely to fail </a:t>
            </a:r>
            <a:r>
              <a:rPr lang="en-US" dirty="0" err="1"/>
              <a:t>shapiro</a:t>
            </a:r>
            <a:r>
              <a:rPr lang="en-US" dirty="0"/>
              <a:t>-wilks test when you have large sample sizes. </a:t>
            </a:r>
          </a:p>
          <a:p>
            <a:r>
              <a:rPr lang="en-US" dirty="0"/>
              <a:t>- doesn't tell you what's wrong</a:t>
            </a:r>
          </a:p>
          <a:p>
            <a:r>
              <a:rPr lang="en-US" dirty="0"/>
              <a:t>- is your error distribution problematic or non-problematic</a:t>
            </a:r>
          </a:p>
          <a:p>
            <a:r>
              <a:rPr lang="en-US" dirty="0"/>
              <a:t>-  outlier removal...  is it biological or is it bad data? or bad methods?</a:t>
            </a:r>
          </a:p>
          <a:p>
            <a:r>
              <a:rPr lang="en-US" dirty="0"/>
              <a:t>-  remove </a:t>
            </a:r>
            <a:r>
              <a:rPr lang="en-US" dirty="0" err="1"/>
              <a:t>outilier</a:t>
            </a:r>
            <a:r>
              <a:rPr lang="en-US" dirty="0"/>
              <a:t> and run model, add outlier and run model</a:t>
            </a:r>
          </a:p>
          <a:p>
            <a:r>
              <a:rPr lang="en-US" dirty="0"/>
              <a:t>- platykurtic data will have an s-shaped curve on the QQ plot, r shape or j shape BAD</a:t>
            </a:r>
          </a:p>
          <a:p>
            <a:r>
              <a:rPr lang="en-US" dirty="0"/>
              <a:t>- </a:t>
            </a:r>
          </a:p>
          <a:p>
            <a:r>
              <a:rPr lang="en-US" dirty="0"/>
              <a:t>- distribution of raw response variable doesn't matter</a:t>
            </a:r>
            <a:br>
              <a:rPr lang="en-US" dirty="0"/>
            </a:br>
            <a:r>
              <a:rPr lang="en-US" dirty="0"/>
              <a:t>- can also use a Shapiro-wilk test to test for normality.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27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absolute lambda is less important than if its </a:t>
            </a:r>
            <a:r>
              <a:rPr lang="en-US" dirty="0" err="1"/>
              <a:t>postive</a:t>
            </a:r>
            <a:r>
              <a:rPr lang="en-US" dirty="0"/>
              <a:t> or negative.</a:t>
            </a:r>
          </a:p>
          <a:p>
            <a:r>
              <a:rPr lang="en-US" dirty="0"/>
              <a:t>- </a:t>
            </a:r>
            <a:r>
              <a:rPr lang="en-US" dirty="0" err="1"/>
              <a:t>postive</a:t>
            </a:r>
            <a:r>
              <a:rPr lang="en-US" dirty="0"/>
              <a:t> lambda apply log function</a:t>
            </a:r>
          </a:p>
          <a:p>
            <a:r>
              <a:rPr lang="en-US" dirty="0"/>
              <a:t>- negative lambda apply sqrt </a:t>
            </a:r>
          </a:p>
          <a:p>
            <a:r>
              <a:rPr lang="en-US" dirty="0"/>
              <a:t>- </a:t>
            </a:r>
            <a:r>
              <a:rPr lang="en-US" dirty="0" err="1"/>
              <a:t>boxcox</a:t>
            </a:r>
            <a:r>
              <a:rPr lang="en-US" dirty="0"/>
              <a:t> figures out what is best by shrinking small values to </a:t>
            </a:r>
            <a:r>
              <a:rPr lang="en-US" dirty="0" err="1"/>
              <a:t>shrinnking</a:t>
            </a:r>
            <a:r>
              <a:rPr lang="en-US" dirty="0"/>
              <a:t> large value, which one looks more normal.</a:t>
            </a:r>
          </a:p>
          <a:p>
            <a:r>
              <a:rPr lang="en-US" dirty="0"/>
              <a:t>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68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you have zero-inflated data, hurdle model , </a:t>
            </a:r>
            <a:r>
              <a:rPr lang="en-US" dirty="0" err="1"/>
              <a:t>poisson</a:t>
            </a:r>
            <a:r>
              <a:rPr lang="en-US" dirty="0"/>
              <a:t> model</a:t>
            </a:r>
          </a:p>
          <a:p>
            <a:r>
              <a:rPr lang="en-US" dirty="0"/>
              <a:t>-  really changing half  your dataset, </a:t>
            </a:r>
          </a:p>
          <a:p>
            <a:r>
              <a:rPr lang="en-US" dirty="0"/>
              <a:t>- could shift your data </a:t>
            </a:r>
          </a:p>
          <a:p>
            <a:r>
              <a:rPr lang="en-US" dirty="0"/>
              <a:t>- linear </a:t>
            </a:r>
            <a:r>
              <a:rPr lang="en-US" dirty="0" err="1"/>
              <a:t>transformatino</a:t>
            </a:r>
            <a:r>
              <a:rPr lang="en-US" dirty="0"/>
              <a:t> doesn't change the intercept model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1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Nonparametric regression refers to a class of regression techniques that do not assume a specific functional form for the relationship between a predictor and a response. It allows the data to speak for itself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4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Likelihood ratio test  compare the goodness of fir between two models </a:t>
            </a:r>
          </a:p>
          <a:p>
            <a:endParaRPr lang="en-US" dirty="0"/>
          </a:p>
          <a:p>
            <a:r>
              <a:rPr lang="en-US" dirty="0" err="1"/>
              <a:t>poisson</a:t>
            </a:r>
            <a:r>
              <a:rPr lang="en-US" dirty="0"/>
              <a:t> = mean = variance</a:t>
            </a:r>
          </a:p>
          <a:p>
            <a:endParaRPr lang="en-US" dirty="0"/>
          </a:p>
          <a:p>
            <a:r>
              <a:rPr lang="en-US" dirty="0"/>
              <a:t>negative binomial =  variance &gt; mean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3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2A01-F982-EF06-8A02-22BBF5E7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30470-ECE9-798A-0182-9C768946B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C8D9E-2ABB-1058-16EA-3EB9AF1AC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A2AD6-A7FF-2438-8C8C-D3A44AF7A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159D7-3F9A-5C49-B0CF-E7444B3B45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0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2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6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1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5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5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0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7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7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27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36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65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24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91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67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2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0D8010B-F27E-5D41-AB64-65E1DB7962E6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548428C-9F71-054D-B56C-5642E39CE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4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intensecrypto.org/public/lec_00_1_mathematical-background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arc-team-open-research.blogspot.com/2014/07/geometric-classification-method-in-qgi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analysis/log-normalization-for-outliers-convert-skewed-data-to-normal-distribution/" TargetMode="External"/><Relationship Id="rId2" Type="http://schemas.openxmlformats.org/officeDocument/2006/relationships/hyperlink" Target="https://scienceinsights.org/how-to-transform-non-normal-data-in-statistics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ike-data-analysis.share.connect.posit.cloud/sec-nonparametric-regression.html" TargetMode="External"/><Relationship Id="rId4" Type="http://schemas.openxmlformats.org/officeDocument/2006/relationships/hyperlink" Target="https://www.youtube.com/watch?v=lE_HBLDnZF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A711-A58A-8289-49F3-E4CBD1A08D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Dealing w/skewed data + linear model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5C30-6282-46F3-3945-0273A0343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Laura Dagg </a:t>
            </a:r>
          </a:p>
          <a:p>
            <a:r>
              <a:rPr lang="en-US" dirty="0"/>
              <a:t>R seminar Fall 2026</a:t>
            </a:r>
          </a:p>
        </p:txBody>
      </p:sp>
    </p:spTree>
    <p:extLst>
      <p:ext uri="{BB962C8B-B14F-4D97-AF65-F5344CB8AC3E}">
        <p14:creationId xmlns:p14="http://schemas.microsoft.com/office/powerpoint/2010/main" val="22138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4FB286-3C87-8121-D924-F8230864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Today’s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EDE80F-2B89-9304-9D13-855CD65102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295004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37985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8A2B9-3E4C-F621-C3DA-82D83024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Normal Distribution – the Bell Curve</a:t>
            </a:r>
          </a:p>
        </p:txBody>
      </p:sp>
      <p:pic>
        <p:nvPicPr>
          <p:cNvPr id="8" name="Picture 7" descr="An intensive introduction to cryptography: Mathematical Background">
            <a:extLst>
              <a:ext uri="{FF2B5EF4-FFF2-40B4-BE49-F238E27FC236}">
                <a16:creationId xmlns:a16="http://schemas.microsoft.com/office/drawing/2014/main" id="{E839C356-A2AC-2C25-C02F-2C8F50370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94607" y="1131832"/>
            <a:ext cx="6391533" cy="459433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16FD2-0EBC-7CA5-ABA1-D49228681F17}"/>
              </a:ext>
            </a:extLst>
          </p:cNvPr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The normal/gaussian distribution is a continuous probability distribution with a symmetric bell-shaped curve.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 Note that the area under the curve represents the probability of an observed value. Total area = 1 (100%)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Note the SD</a:t>
            </a: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81422-D404-1F70-1589-C30DDF06CB83}"/>
              </a:ext>
            </a:extLst>
          </p:cNvPr>
          <p:cNvSpPr txBox="1"/>
          <p:nvPr/>
        </p:nvSpPr>
        <p:spPr>
          <a:xfrm>
            <a:off x="8713239" y="5526113"/>
            <a:ext cx="287290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intensecrypto.org/public/lec_00_1_mathematical-background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40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5720-C95D-0FD5-D1AE-F86DFEDA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Non-normal Distribution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DF4AEC-E7C3-BC0A-7A4D-C2FC76CC5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478" y="2898182"/>
            <a:ext cx="2882685" cy="345590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Skew- measure of the balance of the tails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Kurtosis – measure of the slenderness/broadness of the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F990E-2FF7-C22B-2C3B-C8472AD7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1" t="5474" r="5429"/>
          <a:stretch>
            <a:fillRect/>
          </a:stretch>
        </p:blipFill>
        <p:spPr>
          <a:xfrm>
            <a:off x="3390757" y="2758699"/>
            <a:ext cx="8599765" cy="3750590"/>
          </a:xfrm>
          <a:prstGeom prst="roundRect">
            <a:avLst>
              <a:gd name="adj" fmla="val 1858"/>
            </a:avLst>
          </a:prstGeom>
          <a:ln>
            <a:solidFill>
              <a:schemeClr val="accent1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487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E0C7-1109-93E3-F7A2-B4B93494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82415" cy="706964"/>
          </a:xfrm>
        </p:spPr>
        <p:txBody>
          <a:bodyPr/>
          <a:lstStyle/>
          <a:p>
            <a:r>
              <a:rPr lang="en-US" dirty="0"/>
              <a:t>Exponents vs ln() for data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9CFBE-B938-8F76-7487-FD55DD4FD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654175" cy="1887818"/>
          </a:xfrm>
        </p:spPr>
        <p:txBody>
          <a:bodyPr/>
          <a:lstStyle/>
          <a:p>
            <a:r>
              <a:rPr lang="en-US" dirty="0"/>
              <a:t>Exponents: To make data more normal, can apply a function to the dataset ( an exponent per say) to normalize the data. But which exponent (</a:t>
            </a:r>
            <a:r>
              <a:rPr lang="en-US" dirty="0" err="1"/>
              <a:t>ƛ</a:t>
            </a:r>
            <a:r>
              <a:rPr lang="en-US" dirty="0"/>
              <a:t>) should you use for your dataset?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86CB7-ABBF-8D80-486E-DC2B6C6EA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4491318"/>
            <a:ext cx="4025900" cy="213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4A0E15-C6FC-D6A1-FE3C-ACF372750406}"/>
              </a:ext>
            </a:extLst>
          </p:cNvPr>
          <p:cNvSpPr txBox="1"/>
          <p:nvPr/>
        </p:nvSpPr>
        <p:spPr>
          <a:xfrm>
            <a:off x="6629400" y="2463800"/>
            <a:ext cx="4241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Natural Log: To make data more normal, you can apply the natural log function to your dataset, but when?</a:t>
            </a:r>
          </a:p>
          <a:p>
            <a:pPr marL="285750" indent="-285750">
              <a:buFontTx/>
              <a:buChar char="-"/>
            </a:pPr>
            <a:r>
              <a:rPr lang="en-US" dirty="0"/>
              <a:t>Applying the log10 function to a number or a numeric </a:t>
            </a:r>
            <a:r>
              <a:rPr lang="en-US" dirty="0" err="1"/>
              <a:t>df</a:t>
            </a:r>
            <a:r>
              <a:rPr lang="en-US" dirty="0"/>
              <a:t> will yield an output that is the exponent to which 10 must be raised to obtain x.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only take the log of positive numbers.</a:t>
            </a:r>
          </a:p>
          <a:p>
            <a:endParaRPr lang="en-US" dirty="0"/>
          </a:p>
          <a:p>
            <a:r>
              <a:rPr lang="en-US" dirty="0"/>
              <a:t>X= log10(xi)</a:t>
            </a:r>
          </a:p>
          <a:p>
            <a:r>
              <a:rPr lang="en-US" dirty="0"/>
              <a:t>2 = log10(100)</a:t>
            </a:r>
          </a:p>
        </p:txBody>
      </p:sp>
    </p:spTree>
    <p:extLst>
      <p:ext uri="{BB962C8B-B14F-4D97-AF65-F5344CB8AC3E}">
        <p14:creationId xmlns:p14="http://schemas.microsoft.com/office/powerpoint/2010/main" val="128703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CAA01-5D3B-3789-7A96-F698491D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61DE6-BFFD-BB53-5422-658AAF27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Natural Log</a:t>
            </a:r>
          </a:p>
        </p:txBody>
      </p:sp>
      <p:pic>
        <p:nvPicPr>
          <p:cNvPr id="18" name="Picture 17" descr="ATOR: Geometric Classification Method in QGIS">
            <a:extLst>
              <a:ext uri="{FF2B5EF4-FFF2-40B4-BE49-F238E27FC236}">
                <a16:creationId xmlns:a16="http://schemas.microsoft.com/office/drawing/2014/main" id="{7030E039-183D-1517-CFF7-682081376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94607" y="1311805"/>
            <a:ext cx="6391533" cy="42343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3B869-C0A3-9383-4CC8-B1E2788133F2}"/>
              </a:ext>
            </a:extLst>
          </p:cNvPr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300">
                <a:solidFill>
                  <a:srgbClr val="FFFFFF"/>
                </a:solidFill>
              </a:rPr>
              <a:t>When applying a natural log you convert skewed data to a more normal distribution by proportionally scaling down large values more than small values, resulting in a shorter right tail.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300">
              <a:solidFill>
                <a:srgbClr val="FFFFFF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300">
                <a:solidFill>
                  <a:srgbClr val="FFFFFF"/>
                </a:solidFill>
              </a:rPr>
              <a:t>So this works best for POSTIVE and RIGHT-SKEWED DATA where we see that most values cluster at the lower end and a few unusually large values extend the tail to the right.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300">
                <a:solidFill>
                  <a:srgbClr val="FFFFFF"/>
                </a:solidFill>
              </a:rPr>
              <a:t>Log normalization does NOT work for left-skewed data because it can distort small or negative values.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ED90C-DC43-2152-DFB5-9D82049F4C4E}"/>
              </a:ext>
            </a:extLst>
          </p:cNvPr>
          <p:cNvSpPr txBox="1"/>
          <p:nvPr/>
        </p:nvSpPr>
        <p:spPr>
          <a:xfrm>
            <a:off x="9046663" y="5346140"/>
            <a:ext cx="253947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arc-team-open-research.blogspot.com/2014/07/geometric-classification-method-in-qgi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1271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8C8E-A2AA-438A-EF78-9C11C6124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039F-A126-5D95-1779-E581FABE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Exponents – Which one?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3C1B6-1F92-957C-9C71-47E44543B812}"/>
              </a:ext>
            </a:extLst>
          </p:cNvPr>
          <p:cNvSpPr txBox="1"/>
          <p:nvPr/>
        </p:nvSpPr>
        <p:spPr>
          <a:xfrm>
            <a:off x="393700" y="2300070"/>
            <a:ext cx="2743201" cy="120032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1) Plot a histogram and quantile-quantile plot of your dataset. (or skew coefficient)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5F1E-D60E-7B25-F674-D11FF114427E}"/>
              </a:ext>
            </a:extLst>
          </p:cNvPr>
          <p:cNvSpPr txBox="1"/>
          <p:nvPr/>
        </p:nvSpPr>
        <p:spPr>
          <a:xfrm>
            <a:off x="3505199" y="2300070"/>
            <a:ext cx="2374897" cy="64633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2) Pick an exponent and try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DDAB7-7812-BDED-CF03-1361A2E6BE42}"/>
              </a:ext>
            </a:extLst>
          </p:cNvPr>
          <p:cNvSpPr txBox="1"/>
          <p:nvPr/>
        </p:nvSpPr>
        <p:spPr>
          <a:xfrm>
            <a:off x="6324601" y="2311400"/>
            <a:ext cx="2743200" cy="120032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3) Plot your transformed data and compare. (or skew coefficient)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3243371-3588-3DCE-8FD5-F77806C3B0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15"/>
          <a:stretch>
            <a:fillRect/>
          </a:stretch>
        </p:blipFill>
        <p:spPr>
          <a:xfrm>
            <a:off x="0" y="4879662"/>
            <a:ext cx="3213100" cy="2009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D3A07E-A3FD-12FC-C99A-6AF923C05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84697"/>
            <a:ext cx="1968500" cy="55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C6CC6B-02F7-17B2-B40B-C6EEED5468BF}"/>
              </a:ext>
            </a:extLst>
          </p:cNvPr>
          <p:cNvSpPr txBox="1"/>
          <p:nvPr/>
        </p:nvSpPr>
        <p:spPr>
          <a:xfrm>
            <a:off x="9588502" y="2311400"/>
            <a:ext cx="2374898" cy="286232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4) Did that reduce the skew of your data?</a:t>
            </a:r>
          </a:p>
          <a:p>
            <a:endParaRPr lang="en-US" dirty="0"/>
          </a:p>
          <a:p>
            <a:r>
              <a:rPr lang="en-US" dirty="0"/>
              <a:t>YES – Well, could applying a different exponent normalize better? Try another!</a:t>
            </a:r>
          </a:p>
          <a:p>
            <a:r>
              <a:rPr lang="en-US" dirty="0"/>
              <a:t>NO -  try another!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B5D3274-3C5E-AE4B-E9AA-9B29D1D30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78660"/>
            <a:ext cx="2882900" cy="8509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8E6E614-F093-DF83-4342-2C3709206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50" y="3859325"/>
            <a:ext cx="2882900" cy="406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DE104D7-1B25-56D4-EC6D-D9817C33AB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2696" r="6699" b="17850"/>
          <a:stretch>
            <a:fillRect/>
          </a:stretch>
        </p:blipFill>
        <p:spPr>
          <a:xfrm>
            <a:off x="5911852" y="4574947"/>
            <a:ext cx="3464623" cy="236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1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1DE3271-DD99-4DEF-AF9F-84397884C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6A31CE-F9B6-4BA2-8685-60F3524D0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8ADF14A3-1454-4B74-8B4A-CB197D7A7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EC19D556-0251-4E87-AE24-890965BA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1B170-2221-8FD9-3B23-3DF87DB6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Box-cox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3C8C6-98E2-45EF-AEFC-30C0DBA0E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606A-3567-C136-BB48-7D8E780BD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1016452"/>
            <a:ext cx="5132439" cy="52140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tx1"/>
                </a:solidFill>
              </a:rPr>
              <a:t>Box-cox method tests a range of power transformations and picks the one that best normalized your data.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tx1"/>
                </a:solidFill>
              </a:rPr>
              <a:t>Lamba(</a:t>
            </a:r>
            <a:r>
              <a:rPr lang="en-US" sz="1500" dirty="0" err="1">
                <a:solidFill>
                  <a:schemeClr val="tx1"/>
                </a:solidFill>
              </a:rPr>
              <a:t>ƛ</a:t>
            </a:r>
            <a:r>
              <a:rPr lang="en-US" sz="1500" dirty="0">
                <a:solidFill>
                  <a:schemeClr val="tx1"/>
                </a:solidFill>
              </a:rPr>
              <a:t>)= parameter the method optimizes, could be one of these landmark values below, or a value tailored to your specific data like 0.4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tx1"/>
                </a:solidFill>
              </a:rPr>
              <a:t>Only works with POSITIVE values!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tx1"/>
                </a:solidFill>
              </a:rPr>
              <a:t>Use box-cox() function in R, fit </a:t>
            </a:r>
            <a:r>
              <a:rPr lang="en-US" sz="1500" dirty="0" err="1">
                <a:solidFill>
                  <a:schemeClr val="tx1"/>
                </a:solidFill>
              </a:rPr>
              <a:t>lm</a:t>
            </a:r>
            <a:r>
              <a:rPr lang="en-US" sz="1500" dirty="0">
                <a:solidFill>
                  <a:schemeClr val="tx1"/>
                </a:solidFill>
              </a:rPr>
              <a:t>() model, find and define  optimal lambda, fir new </a:t>
            </a:r>
            <a:r>
              <a:rPr lang="en-US" sz="1500" dirty="0" err="1">
                <a:solidFill>
                  <a:schemeClr val="tx1"/>
                </a:solidFill>
              </a:rPr>
              <a:t>lm</a:t>
            </a:r>
            <a:r>
              <a:rPr lang="en-US" sz="1500" dirty="0">
                <a:solidFill>
                  <a:schemeClr val="tx1"/>
                </a:solidFill>
              </a:rPr>
              <a:t>() with box-cox!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EC129B-442B-8A0A-38AA-561A69F81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36" y="1016452"/>
            <a:ext cx="4828707" cy="1967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2B0B68-A4E2-B1E3-1B66-58E041F0A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090" y="2498213"/>
            <a:ext cx="4139744" cy="352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8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74B0-DA8C-6AA4-310A-A810D08D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Yeo-Johnson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3C004-6D2B-3B1A-CCA2-3CF92F88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with zeros and negatives? </a:t>
            </a:r>
          </a:p>
          <a:p>
            <a:r>
              <a:rPr lang="en-US" dirty="0"/>
              <a:t>Yeo-Johnson transformation splits data into non-negative and negative values. For negative values it takes the absolute value of y +1, and for all non-negative values it applies the box-cox transformation to y+1.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B283-D2B3-CF78-05CF-2E8F4CC5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all else fails..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C1D03-2C00-D648-2027-AA6648E65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Rank-based transformations..</a:t>
            </a:r>
          </a:p>
          <a:p>
            <a:r>
              <a:rPr lang="en-US" dirty="0"/>
              <a:t>Pick a new model, a non-parametric test to try.</a:t>
            </a:r>
          </a:p>
          <a:p>
            <a:r>
              <a:rPr lang="en-US" dirty="0"/>
              <a:t>Non-parametric tests rank all observations and compare the sum of ranks between groups. Yields a valid result where parametric tests would not for genuinely non-normal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8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98646-5B4E-DC68-4FFA-5B6868AA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7DB32-9824-7144-1178-A507D64F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rgbClr val="EBEBEB"/>
                </a:solidFill>
              </a:rPr>
              <a:t>Non-parametric linear models</a:t>
            </a:r>
          </a:p>
        </p:txBody>
      </p:sp>
      <p:pic>
        <p:nvPicPr>
          <p:cNvPr id="5" name="Picture 4" descr="Distribution de modèles linéaires généralisés et sélection de fonctions ...">
            <a:extLst>
              <a:ext uri="{FF2B5EF4-FFF2-40B4-BE49-F238E27FC236}">
                <a16:creationId xmlns:a16="http://schemas.microsoft.com/office/drawing/2014/main" id="{889FDEF4-E5B2-47CC-7BB9-3829DC982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982" y="1394847"/>
            <a:ext cx="7163665" cy="402956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EA87-2CF6-0747-887F-5F5DF3DB2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8" y="2120900"/>
            <a:ext cx="3498140" cy="38989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Kernel Regression – estimated by weighted average of nearby data points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Smoothing Splines – fits a spline functions that minimizes sum of squared residuals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Generalized Additive Models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 Generalized Linear Models – Handles non-normal responses by combining distribution, link function, and linear predictor. 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Negative Binomial – works for count data, where variance is greater than the mean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Poisson – works for count data where variance is roughly equal to mean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500" dirty="0">
              <a:solidFill>
                <a:srgbClr val="FFFFFF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1500" dirty="0">
              <a:solidFill>
                <a:srgbClr val="FFFFFF"/>
              </a:solidFill>
            </a:endParaRPr>
          </a:p>
          <a:p>
            <a:pPr lvl="2"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3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3464-067C-76A1-9FF0-733B23F3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3C64-05F2-D6C9-5757-4822B7ED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base r you can extract fitted values from your model using the predict() function, then compute the standardized residuals using </a:t>
            </a:r>
            <a:r>
              <a:rPr lang="en-US" dirty="0" err="1"/>
              <a:t>rstandard</a:t>
            </a:r>
            <a:r>
              <a:rPr lang="en-US" dirty="0"/>
              <a:t>(), lastly plot!</a:t>
            </a:r>
          </a:p>
          <a:p>
            <a:r>
              <a:rPr lang="en-US" dirty="0"/>
              <a:t>Dispersion test comes from the “AER” package and can only be run on </a:t>
            </a:r>
            <a:r>
              <a:rPr lang="en-US" dirty="0" err="1"/>
              <a:t>poisson</a:t>
            </a:r>
            <a:r>
              <a:rPr lang="en-US" dirty="0"/>
              <a:t> GLM. The function is </a:t>
            </a:r>
            <a:r>
              <a:rPr lang="en-US" dirty="0" err="1"/>
              <a:t>dispersiontest</a:t>
            </a:r>
            <a:r>
              <a:rPr lang="en-US" dirty="0"/>
              <a:t>().</a:t>
            </a:r>
          </a:p>
          <a:p>
            <a:r>
              <a:rPr lang="en-US" dirty="0"/>
              <a:t>To perform a likelihood ratio test, you can use the function </a:t>
            </a:r>
            <a:r>
              <a:rPr lang="en-US" dirty="0" err="1"/>
              <a:t>lrtest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718D3-7B7D-8C82-2210-884AB0E21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259" y="3059854"/>
            <a:ext cx="3820549" cy="2959946"/>
          </a:xfrm>
        </p:spPr>
        <p:txBody>
          <a:bodyPr/>
          <a:lstStyle/>
          <a:p>
            <a:r>
              <a:rPr lang="en-US" dirty="0"/>
              <a:t>1) Fit both of your models </a:t>
            </a:r>
          </a:p>
          <a:p>
            <a:r>
              <a:rPr lang="en-US" dirty="0"/>
              <a:t>2. Choose a diagnostic Method</a:t>
            </a:r>
          </a:p>
          <a:p>
            <a:r>
              <a:rPr lang="en-US" dirty="0"/>
              <a:t>	a) Plot standardized deviance r	residuals vs. fitted values</a:t>
            </a:r>
          </a:p>
          <a:p>
            <a:r>
              <a:rPr lang="en-US" dirty="0"/>
              <a:t>	b) Check dispersion </a:t>
            </a:r>
          </a:p>
          <a:p>
            <a:r>
              <a:rPr lang="en-US" dirty="0"/>
              <a:t>	c) Likelihood Ratio test</a:t>
            </a:r>
          </a:p>
          <a:p>
            <a:r>
              <a:rPr lang="en-US" dirty="0"/>
              <a:t>3) Select model based on diagnostic methods.</a:t>
            </a:r>
          </a:p>
        </p:txBody>
      </p:sp>
    </p:spTree>
    <p:extLst>
      <p:ext uri="{BB962C8B-B14F-4D97-AF65-F5344CB8AC3E}">
        <p14:creationId xmlns:p14="http://schemas.microsoft.com/office/powerpoint/2010/main" val="78220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2599-8B94-BEBB-15FD-C2FD1B9A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Recap…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4AFDE-43E0-0387-2E21-6EF9B75E28FF}"/>
              </a:ext>
            </a:extLst>
          </p:cNvPr>
          <p:cNvSpPr txBox="1">
            <a:spLocks/>
          </p:cNvSpPr>
          <p:nvPr/>
        </p:nvSpPr>
        <p:spPr>
          <a:xfrm>
            <a:off x="2836189" y="2448731"/>
            <a:ext cx="3037668" cy="1337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data is non-normal, pick appropriate function..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067985-0902-A252-5D9F-5F1C52B9D1F3}"/>
              </a:ext>
            </a:extLst>
          </p:cNvPr>
          <p:cNvSpPr txBox="1">
            <a:spLocks/>
          </p:cNvSpPr>
          <p:nvPr/>
        </p:nvSpPr>
        <p:spPr>
          <a:xfrm>
            <a:off x="6044339" y="2448731"/>
            <a:ext cx="3037668" cy="1135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Compare transformed data to non-transformed data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5A8659-A78F-0FCB-4F8E-B4D6328C8FDA}"/>
              </a:ext>
            </a:extLst>
          </p:cNvPr>
          <p:cNvSpPr txBox="1">
            <a:spLocks/>
          </p:cNvSpPr>
          <p:nvPr/>
        </p:nvSpPr>
        <p:spPr>
          <a:xfrm>
            <a:off x="9082006" y="2448731"/>
            <a:ext cx="3037661" cy="139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data is truly non-normal, choose a non-parametric linear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65CA4-C41C-11A3-CB71-E890ABEAA84F}"/>
              </a:ext>
            </a:extLst>
          </p:cNvPr>
          <p:cNvSpPr txBox="1"/>
          <p:nvPr/>
        </p:nvSpPr>
        <p:spPr>
          <a:xfrm>
            <a:off x="0" y="4339525"/>
            <a:ext cx="1154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</a:t>
            </a:r>
          </a:p>
          <a:p>
            <a:r>
              <a:rPr lang="en-US" b="1" dirty="0"/>
              <a:t>tool-set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4ED90-218A-301C-9D08-68112D1EC7D3}"/>
              </a:ext>
            </a:extLst>
          </p:cNvPr>
          <p:cNvSpPr txBox="1"/>
          <p:nvPr/>
        </p:nvSpPr>
        <p:spPr>
          <a:xfrm>
            <a:off x="1154953" y="4029559"/>
            <a:ext cx="2192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skew()</a:t>
            </a:r>
          </a:p>
          <a:p>
            <a:r>
              <a:rPr lang="en-US" dirty="0" err="1"/>
              <a:t>kurtosi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 err="1"/>
              <a:t>qnorm</a:t>
            </a:r>
            <a:r>
              <a:rPr lang="en-US" dirty="0"/>
              <a:t>()</a:t>
            </a:r>
          </a:p>
          <a:p>
            <a:r>
              <a:rPr lang="en-US" dirty="0" err="1"/>
              <a:t>qqline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E72F4-AFD3-803D-5062-EB07B26C2CED}"/>
              </a:ext>
            </a:extLst>
          </p:cNvPr>
          <p:cNvSpPr txBox="1"/>
          <p:nvPr/>
        </p:nvSpPr>
        <p:spPr>
          <a:xfrm flipH="1">
            <a:off x="2836189" y="4029559"/>
            <a:ext cx="31048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lm</a:t>
            </a:r>
            <a:r>
              <a:rPr lang="en-US" dirty="0"/>
              <a:t>(</a:t>
            </a:r>
            <a:r>
              <a:rPr lang="en-US" dirty="0" err="1"/>
              <a:t>y~x</a:t>
            </a:r>
            <a:r>
              <a:rPr lang="en-US" dirty="0"/>
              <a:t>)</a:t>
            </a:r>
          </a:p>
          <a:p>
            <a:r>
              <a:rPr lang="en-US" dirty="0" err="1"/>
              <a:t>Bxcx</a:t>
            </a:r>
            <a:r>
              <a:rPr lang="en-US" dirty="0"/>
              <a:t> &lt;- </a:t>
            </a:r>
            <a:r>
              <a:rPr lang="en-US" dirty="0" err="1"/>
              <a:t>boxcox</a:t>
            </a:r>
            <a:r>
              <a:rPr lang="en-US" dirty="0"/>
              <a:t>(</a:t>
            </a:r>
            <a:r>
              <a:rPr lang="en-US" dirty="0" err="1"/>
              <a:t>y~x</a:t>
            </a:r>
            <a:r>
              <a:rPr lang="en-US" dirty="0"/>
              <a:t>)</a:t>
            </a:r>
          </a:p>
          <a:p>
            <a:r>
              <a:rPr lang="en-US" dirty="0"/>
              <a:t>Lamba &lt;- …</a:t>
            </a:r>
          </a:p>
          <a:p>
            <a:endParaRPr lang="en-US" dirty="0"/>
          </a:p>
          <a:p>
            <a:r>
              <a:rPr lang="en-US" dirty="0" err="1"/>
              <a:t>New_lm</a:t>
            </a:r>
            <a:r>
              <a:rPr lang="en-US" dirty="0"/>
              <a:t> &lt;- </a:t>
            </a:r>
            <a:r>
              <a:rPr lang="en-US" dirty="0" err="1"/>
              <a:t>lm</a:t>
            </a:r>
            <a:r>
              <a:rPr lang="en-US" dirty="0"/>
              <a:t> (((y^lambda-1)/</a:t>
            </a:r>
            <a:r>
              <a:rPr lang="en-US" dirty="0" err="1"/>
              <a:t>lamba</a:t>
            </a:r>
            <a:r>
              <a:rPr lang="en-US" dirty="0"/>
              <a:t>) ~x)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A9B46-F998-01C8-7FF4-D714DF53367F}"/>
              </a:ext>
            </a:extLst>
          </p:cNvPr>
          <p:cNvSpPr txBox="1"/>
          <p:nvPr/>
        </p:nvSpPr>
        <p:spPr>
          <a:xfrm>
            <a:off x="6095999" y="4029559"/>
            <a:ext cx="2986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skew(</a:t>
            </a:r>
            <a:r>
              <a:rPr lang="en-US" dirty="0" err="1"/>
              <a:t>lm$y</a:t>
            </a:r>
            <a:r>
              <a:rPr lang="en-US" dirty="0"/>
              <a:t>)</a:t>
            </a:r>
          </a:p>
          <a:p>
            <a:r>
              <a:rPr lang="en-US" dirty="0"/>
              <a:t>skew(</a:t>
            </a:r>
            <a:r>
              <a:rPr lang="en-US" dirty="0" err="1"/>
              <a:t>new_lm$y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qqnorm</a:t>
            </a:r>
            <a:r>
              <a:rPr lang="en-US" dirty="0"/>
              <a:t>(</a:t>
            </a:r>
            <a:r>
              <a:rPr lang="en-US" dirty="0" err="1"/>
              <a:t>new_lm$y</a:t>
            </a:r>
            <a:r>
              <a:rPr lang="en-US" dirty="0"/>
              <a:t>)</a:t>
            </a:r>
          </a:p>
          <a:p>
            <a:r>
              <a:rPr lang="en-US" dirty="0" err="1"/>
              <a:t>qqline</a:t>
            </a:r>
            <a:r>
              <a:rPr lang="en-US" dirty="0"/>
              <a:t>(</a:t>
            </a:r>
            <a:r>
              <a:rPr lang="en-US" dirty="0" err="1"/>
              <a:t>new_lm$y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63947-9249-78EE-3ED3-1B3567689967}"/>
              </a:ext>
            </a:extLst>
          </p:cNvPr>
          <p:cNvSpPr txBox="1"/>
          <p:nvPr/>
        </p:nvSpPr>
        <p:spPr>
          <a:xfrm>
            <a:off x="9166390" y="4029559"/>
            <a:ext cx="2751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&lt;- </a:t>
            </a:r>
            <a:r>
              <a:rPr lang="en-US" dirty="0" err="1"/>
              <a:t>glmer</a:t>
            </a:r>
            <a:r>
              <a:rPr lang="en-US" dirty="0"/>
              <a:t>(y ~x + 1|random), data = ?, family= ?l(link=“?”)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EFF40B-BA1A-452A-77BA-0BBD54B58649}"/>
              </a:ext>
            </a:extLst>
          </p:cNvPr>
          <p:cNvSpPr txBox="1"/>
          <p:nvPr/>
        </p:nvSpPr>
        <p:spPr>
          <a:xfrm>
            <a:off x="0" y="2601131"/>
            <a:ext cx="3037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dataset for normality by plotting or with skew coefficient.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196824-982E-DE74-BE90-56CFF3BF31CC}"/>
              </a:ext>
            </a:extLst>
          </p:cNvPr>
          <p:cNvCxnSpPr/>
          <p:nvPr/>
        </p:nvCxnSpPr>
        <p:spPr>
          <a:xfrm>
            <a:off x="0" y="384358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82662-7A03-2F94-6DA4-071F5C967542}"/>
              </a:ext>
            </a:extLst>
          </p:cNvPr>
          <p:cNvCxnSpPr/>
          <p:nvPr/>
        </p:nvCxnSpPr>
        <p:spPr>
          <a:xfrm>
            <a:off x="2836190" y="3843580"/>
            <a:ext cx="0" cy="3014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EEC889-E270-2CFC-D3FF-F11DA126A43A}"/>
              </a:ext>
            </a:extLst>
          </p:cNvPr>
          <p:cNvCxnSpPr/>
          <p:nvPr/>
        </p:nvCxnSpPr>
        <p:spPr>
          <a:xfrm>
            <a:off x="5907432" y="3843580"/>
            <a:ext cx="0" cy="3014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BBB2C5-DFEB-214F-54F5-5740EBF3056B}"/>
              </a:ext>
            </a:extLst>
          </p:cNvPr>
          <p:cNvCxnSpPr/>
          <p:nvPr/>
        </p:nvCxnSpPr>
        <p:spPr>
          <a:xfrm>
            <a:off x="9082007" y="3843580"/>
            <a:ext cx="0" cy="3014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00331-D097-F832-77EB-831B58F7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C46391E-BC8C-3792-3D78-032FCBBD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F47359-0ED1-9D7E-0F70-DDD9DF5A4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E1B4C27-DF68-597B-314D-92FB85DB7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94C023-D28B-8919-B3BF-DD407378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Today’s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0AF521-97C7-3BCC-D05D-15E9FD584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B56A93-0391-6566-DC55-29061E477A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2D17EE4-BCF2-C030-77F9-40C2E0A21AEC}"/>
              </a:ext>
            </a:extLst>
          </p:cNvPr>
          <p:cNvSpPr/>
          <p:nvPr/>
        </p:nvSpPr>
        <p:spPr>
          <a:xfrm>
            <a:off x="1744868" y="1798660"/>
            <a:ext cx="7160217" cy="438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Let’s open R!</a:t>
            </a:r>
          </a:p>
          <a:p>
            <a:pPr algn="ctr"/>
            <a:endParaRPr lang="en-US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7481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978C1-1C59-2697-D5CB-A88397D8F311}"/>
              </a:ext>
            </a:extLst>
          </p:cNvPr>
          <p:cNvSpPr txBox="1"/>
          <p:nvPr/>
        </p:nvSpPr>
        <p:spPr>
          <a:xfrm>
            <a:off x="2371241" y="619932"/>
            <a:ext cx="72997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References:</a:t>
            </a:r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r>
              <a:rPr lang="en-US" dirty="0">
                <a:hlinkClick r:id="rId2"/>
              </a:rPr>
              <a:t>https://scienceinsights.org/how-to-transform-non-normal-data-in-statistics/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https://www.geeksforgeeks.org/data-analysis/log-normalization-for-outliers-convert-skewed-data-to-normal-distribution/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https://www.youtube.com/watch?v=lE_HBLDnZFE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5"/>
              </a:rPr>
              <a:t>https://mike-data-analysis.share.connect.posit.cloud/sec-nonparametric-regression.html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32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391</TotalTime>
  <Words>1592</Words>
  <Application>Microsoft Macintosh PowerPoint</Application>
  <PresentationFormat>Widescreen</PresentationFormat>
  <Paragraphs>159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Wingdings 3</vt:lpstr>
      <vt:lpstr>Ion Boardroom</vt:lpstr>
      <vt:lpstr>Dealing w/skewed data + linear model selection</vt:lpstr>
      <vt:lpstr>Today’s Objectives</vt:lpstr>
      <vt:lpstr>Normal Distribution – the Bell Curve</vt:lpstr>
      <vt:lpstr>Non-normal Distribution</vt:lpstr>
      <vt:lpstr>Exponents vs ln() for data normalization</vt:lpstr>
      <vt:lpstr>Natural Log</vt:lpstr>
      <vt:lpstr>Exponents – Which one?</vt:lpstr>
      <vt:lpstr>Box-cox</vt:lpstr>
      <vt:lpstr>Yeo-Johnson</vt:lpstr>
      <vt:lpstr>If all else fails..</vt:lpstr>
      <vt:lpstr>Non-parametric linear models</vt:lpstr>
      <vt:lpstr>Generalized Linear Models</vt:lpstr>
      <vt:lpstr>To Recap…</vt:lpstr>
      <vt:lpstr>Today’s Objectives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Dagg</dc:creator>
  <cp:lastModifiedBy>Laura Dagg</cp:lastModifiedBy>
  <cp:revision>2</cp:revision>
  <dcterms:created xsi:type="dcterms:W3CDTF">2026-10-20T21:28:09Z</dcterms:created>
  <dcterms:modified xsi:type="dcterms:W3CDTF">2026-10-21T22:09:48Z</dcterms:modified>
</cp:coreProperties>
</file>